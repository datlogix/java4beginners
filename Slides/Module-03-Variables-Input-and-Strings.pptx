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3" id="{fe2aecc1-2a26-3089-f477-ec1b560714d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several students run it with their names and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Ex02 shows the three-box swap. Ask why you can't swap with just two assignments.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style: always nextLine then parse. Next slide shows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see it fail first. It sticks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%d with a double crashes: IllegalFormatConversionException.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index boxes for ENGINEER, 0 to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swap and play each other's Mad Libs.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3  ·  VARIABLES, INPUT &amp; STRINGS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3  ·  VARIABLES, INPUT &amp; STRINGS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3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Variables, Input &amp; Strings</a:t>
            </a:r>
            <a:endParaRPr lang="en-US" sz="40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Storing values, reading the keyboard with Scanner, formatting with printf, and taking text apart.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program that knows things about you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Ex00NameAnalyser.java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your first name? Ama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year were you born? 2007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AMA!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name has 3 letters. It starts with 'A' and ends with 'a'.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Backwards, it's amA.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You're about 19, so you've been alive for roughly 599,184,000 seconds.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the year 2050 you'll be 43.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Ex00NameAnalyser.java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It </a:t>
            </a:r>
            <a:r>
              <a:rPr lang="en-US" sz="1700" b="1" dirty="0">
                <a:solidFill>
                  <a:srgbClr val="1F2933"/>
                </a:solidFill>
              </a:rPr>
              <a:t>listens</a:t>
            </a:r>
            <a:r>
              <a:rPr lang="en-US" sz="1700" dirty="0">
                <a:solidFill>
                  <a:srgbClr val="1F2933"/>
                </a:solidFill>
              </a:rPr>
              <a:t>, stores what you type, and talks back.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Variables, input, and strings.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Run it with a friend's name.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Three ideas make this possible, and they're today's lesson.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VARIABLES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boxes with a type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"Kofi"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declare and initialise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declare...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...assign later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read, add, store back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shortcuts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VAT_RATE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constant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town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"Kumasi"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works out: String</a:t>
            </a:r>
            <a:endParaRPr lang="en-US" sz="18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50" dirty="0">
                <a:solidFill>
                  <a:srgbClr val="1F2933"/>
                </a:solidFill>
              </a:rPr>
              <a:t> means </a:t>
            </a:r>
            <a:r>
              <a:rPr lang="en-US" sz="1550" b="1" dirty="0">
                <a:solidFill>
                  <a:srgbClr val="1F2933"/>
                </a:solidFill>
              </a:rPr>
              <a:t>assign</a:t>
            </a:r>
            <a:r>
              <a:rPr lang="en-US" sz="1550" dirty="0">
                <a:solidFill>
                  <a:srgbClr val="1F2933"/>
                </a:solidFill>
              </a:rPr>
              <a:t>, not equals.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camelCase names: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numberOfStudents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550" dirty="0">
                <a:solidFill>
                  <a:srgbClr val="1F2933"/>
                </a:solidFill>
              </a:rPr>
              <a:t> constants: UPPER_SNAKE_CASE.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550" dirty="0">
                <a:solidFill>
                  <a:srgbClr val="1F2933"/>
                </a:solidFill>
              </a:rPr>
              <a:t> still has a fixed type.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INPUT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keyboard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6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ONE Scanner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"What's your name? 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"How old are you? 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550" dirty="0">
                <a:solidFill>
                  <a:srgbClr val="1F2933"/>
                </a:solidFill>
              </a:rPr>
              <a:t> above the class.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50" dirty="0">
                <a:solidFill>
                  <a:srgbClr val="1F2933"/>
                </a:solidFill>
              </a:rPr>
              <a:t> keeps the cursor on the question's line.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nextLine()</a:t>
            </a:r>
            <a:r>
              <a:rPr lang="en-US" sz="1550" dirty="0">
                <a:solidFill>
                  <a:srgbClr val="1F2933"/>
                </a:solidFill>
              </a:rPr>
              <a:t>,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nextInt()</a:t>
            </a:r>
            <a:r>
              <a:rPr lang="en-US" sz="1550" dirty="0">
                <a:solidFill>
                  <a:srgbClr val="1F2933"/>
                </a:solidFill>
              </a:rPr>
              <a:t>,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nextDouble()</a:t>
            </a:r>
            <a:r>
              <a:rPr lang="en-US" sz="1550" dirty="0">
                <a:solidFill>
                  <a:srgbClr val="1F2933"/>
                </a:solidFill>
              </a:rPr>
              <a:t>,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next()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THE FAMOUS TRAP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question gets skipped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1783080"/>
            <a:ext cx="536432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The trap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815688" cy="10149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632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in.nextInt();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 = in.nextLine();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name is ""</a:t>
            </a:r>
            <a:endParaRPr lang="en-US" sz="1500" dirty="0"/>
          </a:p>
        </p:txBody>
      </p:sp>
      <p:sp>
        <p:nvSpPr>
          <p:cNvPr id="11" name="Bullets"/>
          <p:cNvSpPr txBox="1"/>
          <p:nvPr/>
        </p:nvSpPr>
        <p:spPr>
          <a:xfrm>
            <a:off x="868680" y="3986784"/>
            <a:ext cx="472424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nextInt</a:t>
            </a:r>
            <a:r>
              <a:rPr lang="en-US" sz="1550" dirty="0">
                <a:solidFill>
                  <a:srgbClr val="1F2933"/>
                </a:solidFill>
              </a:rPr>
              <a:t> leaves the Enter behind.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550" dirty="0">
                <a:solidFill>
                  <a:srgbClr val="1F2933"/>
                </a:solidFill>
              </a:rPr>
              <a:t> reads that empty leftover.</a:t>
            </a:r>
            <a:endParaRPr lang="en-US" sz="1550" dirty="0"/>
          </a:p>
        </p:txBody>
      </p:sp>
      <p:sp>
        <p:nvSpPr>
          <p:cNvPr id="12" name="Card 2"/>
          <p:cNvSpPr/>
          <p:nvPr/>
        </p:nvSpPr>
        <p:spPr>
          <a:xfrm>
            <a:off x="6278728" y="1783080"/>
            <a:ext cx="536432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30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The fix this course uses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53048" y="2743200"/>
            <a:ext cx="4815688" cy="10149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0208" y="2743200"/>
            <a:ext cx="4632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Integer.parseInt(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in.nextLine().trim());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 = in.nextLine();</a:t>
            </a:r>
            <a:endParaRPr lang="en-US" sz="1500" dirty="0"/>
          </a:p>
        </p:txBody>
      </p:sp>
      <p:sp>
        <p:nvSpPr>
          <p:cNvPr id="18" name="Bullets"/>
          <p:cNvSpPr txBox="1"/>
          <p:nvPr/>
        </p:nvSpPr>
        <p:spPr>
          <a:xfrm>
            <a:off x="6598768" y="3986784"/>
            <a:ext cx="472424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Always read whole lines.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Convert numbers yourself.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3"/>
                </a:solidFill>
              </a:rPr>
              <a:t>Run Ex05TheNextLineTrap.java and watch it happen.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FORMATTING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printf and String.format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"%d x %s costs GHS %.2f%n"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"Notebook"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13.5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"[%10s]%n"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"right"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     right]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"[%-10s]%n"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"left"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[left      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"%,d%n"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34_000_000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34,000,000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"%-12s %5d %8.2f%n"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"Pen"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"%s (%d)"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"Notebook"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%s</a:t>
            </a:r>
            <a:r>
              <a:rPr lang="en-US" sz="1550" dirty="0">
                <a:solidFill>
                  <a:srgbClr val="1F2933"/>
                </a:solidFill>
              </a:rPr>
              <a:t> text,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%d</a:t>
            </a:r>
            <a:r>
              <a:rPr lang="en-US" sz="1550" dirty="0">
                <a:solidFill>
                  <a:srgbClr val="1F2933"/>
                </a:solidFill>
              </a:rPr>
              <a:t> whole,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%.2f</a:t>
            </a:r>
            <a:r>
              <a:rPr lang="en-US" sz="1550" dirty="0">
                <a:solidFill>
                  <a:srgbClr val="1F2933"/>
                </a:solidFill>
              </a:rPr>
              <a:t> 2 places,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%n</a:t>
            </a:r>
            <a:r>
              <a:rPr lang="en-US" sz="1550" dirty="0">
                <a:solidFill>
                  <a:srgbClr val="1F2933"/>
                </a:solidFill>
              </a:rPr>
              <a:t> new line.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 width lines up columns;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550" dirty="0">
                <a:solidFill>
                  <a:srgbClr val="1F2933"/>
                </a:solidFill>
              </a:rPr>
              <a:t> means left.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String.format</a:t>
            </a:r>
            <a:r>
              <a:rPr lang="en-US" sz="1550" dirty="0">
                <a:solidFill>
                  <a:srgbClr val="1F2933"/>
                </a:solidFill>
              </a:rPr>
              <a:t> gives the text back.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STRINGS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String can do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539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Gives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length()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isEmpty()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The number of characters / is it ""?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toUpperCase()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toLowerCase()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trim()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A NEW, changed copy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contains(t)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startsWith(t)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endsWith(t)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true or false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indexOf(t)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Where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 starts, or -1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charAt(i)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substring(a, b)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A char / a piece, from a up to (not including) b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equals(t)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equalsIgnoreCase(t)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Same text?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Strings never change. name.trim(); alone does nothing: name = name.trim();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Using a variable before giving it a value.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Declaring the same variable twice.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The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450" dirty="0">
                <a:solidFill>
                  <a:srgbClr val="FFFFFF"/>
                </a:solidFill>
              </a:rPr>
              <a:t> trap after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nextInt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Forgetting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java.util.Scanner;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Not keeping a String method's result.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Off-by-one: the last index is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length() - 1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example; break the nextLine trap on purpose.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a profile card lined up with printf.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initials, a username and an email.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the project, then commit and push.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 Libs Story Generator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Eight or more words from the player, two numbers used in a calculation, two printf lines, String methods, a final constant, and a funny story.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4, Making Decisions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3: Variables, Input &amp; Strings</dc:title>
  <dc:subject>Lecture slides</dc:subject>
  <dc:creator>Introduction to Java Programming</dc:creator>
  <cp:lastModifiedBy>Introduction to Java Programming</cp:lastModifiedBy>
  <cp:revision>1</cp:revision>
  <dcterms:created xsi:type="dcterms:W3CDTF">2026-10-05T04:01:22Z</dcterms:created>
  <dcterms:modified xsi:type="dcterms:W3CDTF">2026-10-05T04:01:22Z</dcterms:modified>
</cp:coreProperties>
</file>