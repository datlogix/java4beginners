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odule 19" id="{5bc764f1-5902-bd2c-b03a-0fd3ecd501fe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Confirm teams and tracks before Stage 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starter has sample data with a story in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list in §3 of the README.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./mvnw test before every push.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Assessment table is in §7 of the README.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525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97A8"/>
                </a:solidFill>
              </a:rPr>
              <a:t>MODULE 19  ·  CAPSTONE 2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Content">
    <p:bg>
      <p:bgPr>
        <a:solidFill>
          <a:srgbClr val="1525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F93AD"/>
                </a:solidFill>
              </a:rPr>
              <a:t>MODULE 19  ·  CAPSTONE 2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93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g number"/>
          <p:cNvSpPr txBox="1"/>
          <p:nvPr/>
        </p:nvSpPr>
        <p:spPr>
          <a:xfrm>
            <a:off x="6583680" y="822960"/>
            <a:ext cx="5303520" cy="530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30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566928" cy="566928"/>
          </a:xfrm>
          <a:prstGeom prst="ellipse">
            <a:avLst/>
          </a:prstGeom>
          <a:solidFill>
            <a:srgbClr val="22384F"/>
          </a:solidFill>
          <a:ln w="19050">
            <a:solidFill>
              <a:srgbClr val="F8982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051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}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051560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C7D9"/>
                </a:solidFill>
              </a:rPr>
              <a:t>INTRODUCTION TO JAVA PROGRAMMING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F8982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14884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152536"/>
                </a:solidFill>
              </a:rPr>
              <a:t>CAPSTONE 2</a:t>
            </a:r>
            <a:endParaRPr lang="en-US" sz="1100" dirty="0"/>
          </a:p>
        </p:txBody>
      </p:sp>
      <p:sp>
        <p:nvSpPr>
          <p:cNvPr id="8" name="Title"/>
          <p:cNvSpPr txBox="1"/>
          <p:nvPr/>
        </p:nvSpPr>
        <p:spPr>
          <a:xfrm>
            <a:off x="548640" y="2606040"/>
            <a:ext cx="6400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Capstone Project 2</a:t>
            </a:r>
            <a:endParaRPr lang="en-US" sz="4600" dirty="0"/>
          </a:p>
        </p:txBody>
      </p:sp>
      <p:sp>
        <p:nvSpPr>
          <p:cNvPr id="9" name="Subtitle"/>
          <p:cNvSpPr txBox="1"/>
          <p:nvPr/>
        </p:nvSpPr>
        <p:spPr>
          <a:xfrm>
            <a:off x="548640" y="4251960"/>
            <a:ext cx="6309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8C7D9"/>
                </a:solidFill>
              </a:rPr>
              <a:t>One tested, persistent, multi-package application, built by a team, in the track of your choice.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THE TRACKS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projects</a:t>
            </a:r>
            <a:endParaRPr lang="en-US" sz="3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706831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Track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9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Project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9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</a:rPr>
                        <a:t>A: Generic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F2933"/>
                          </a:solidFill>
                        </a:rPr>
                        <a:t>MakerStore</a:t>
                      </a:r>
                      <a:r>
                        <a:rPr lang="en-US" sz="1700" dirty="0">
                          <a:solidFill>
                            <a:srgbClr val="1F2933"/>
                          </a:solidFill>
                        </a:rPr>
                        <a:t>: inventory and lending for a makerspace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</a:rPr>
                        <a:t>B: Electrical/Electronic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F2933"/>
                          </a:solidFill>
                        </a:rPr>
                        <a:t>SensorLab</a:t>
                      </a:r>
                      <a:r>
                        <a:rPr lang="en-US" sz="1700" dirty="0">
                          <a:solidFill>
                            <a:srgbClr val="1F2933"/>
                          </a:solidFill>
                        </a:rPr>
                        <a:t>: a multi-sensor data logger and analyser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</a:rPr>
                        <a:t>C: Biomedical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F2933"/>
                          </a:solidFill>
                        </a:rPr>
                        <a:t>WardWatch</a:t>
                      </a:r>
                      <a:r>
                        <a:rPr lang="en-US" sz="1700" dirty="0">
                          <a:solidFill>
                            <a:srgbClr val="1F2933"/>
                          </a:solidFill>
                        </a:rPr>
                        <a:t>: patient vitals with early-warning alerts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Callout"/>
          <p:cNvSpPr/>
          <p:nvPr/>
        </p:nvSpPr>
        <p:spPr>
          <a:xfrm>
            <a:off x="548640" y="5623560"/>
            <a:ext cx="11094415" cy="594360"/>
          </a:xfrm>
          <a:prstGeom prst="roundRect">
            <a:avLst>
              <a:gd name="adj" fmla="val 15385"/>
            </a:avLst>
          </a:prstGeom>
          <a:solidFill>
            <a:srgbClr val="FEEBD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5623560"/>
            <a:ext cx="106372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52536"/>
                </a:solidFill>
              </a:rPr>
              <a:t>Teams as in Capstone 1: pairs up to 20 students, groups of 4 above that, approved solo with every stretch goal.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453896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453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THE STARTERS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packages</a:t>
            </a:r>
            <a:endParaRPr lang="en-US" sz="3200" dirty="0"/>
          </a:p>
        </p:txBody>
      </p:sp>
      <p:sp>
        <p:nvSpPr>
          <p:cNvPr id="5" name="Code window"/>
          <p:cNvSpPr/>
          <p:nvPr/>
        </p:nvSpPr>
        <p:spPr>
          <a:xfrm>
            <a:off x="548640" y="1783080"/>
            <a:ext cx="11094415" cy="3017520"/>
          </a:xfrm>
          <a:prstGeom prst="roundRect">
            <a:avLst>
              <a:gd name="adj" fmla="val 3636"/>
            </a:avLst>
          </a:prstGeom>
          <a:solidFill>
            <a:srgbClr val="17263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938528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1938528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" y="1938528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463040" y="1856232"/>
            <a:ext cx="9997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each starter (a Maven project)</a:t>
            </a:r>
            <a:endParaRPr lang="en-US" sz="1000" dirty="0"/>
          </a:p>
        </p:txBody>
      </p:sp>
      <p:sp>
        <p:nvSpPr>
          <p:cNvPr id="10" name="Code"/>
          <p:cNvSpPr txBox="1"/>
          <p:nvPr/>
        </p:nvSpPr>
        <p:spPr>
          <a:xfrm>
            <a:off x="777240" y="2194560"/>
            <a:ext cx="10728655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src/main/java/com/makerspace/&lt;app&gt;/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model/       classes, rules, custom exceptions        (no printing)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storage/     JSON with Gson, CSV import and export    (no printing)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analysis/    statistics, recursion, PNG charts        (no printing)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ui/          the menu (and optional Swing window)     (the ONLY talker)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./mvnw test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./mvnw -q compile exec:java</a:t>
            </a:r>
            <a:endParaRPr lang="en-US" sz="1600" dirty="0"/>
          </a:p>
        </p:txBody>
      </p:sp>
      <p:sp>
        <p:nvSpPr>
          <p:cNvPr id="11" name="Bullets"/>
          <p:cNvSpPr txBox="1"/>
          <p:nvPr/>
        </p:nvSpPr>
        <p:spPr>
          <a:xfrm>
            <a:off x="640080" y="502920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Logic away from input/output = testable.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SubtypeAdapterFactory saves class families as JSON.</a:t>
            </a:r>
            <a:endParaRPr lang="en-US" sz="1550" dirty="0"/>
          </a:p>
        </p:txBody>
      </p:sp>
      <p:sp>
        <p:nvSpPr>
          <p:cNvPr id="12" name="Bullets"/>
          <p:cNvSpPr txBox="1"/>
          <p:nvPr/>
        </p:nvSpPr>
        <p:spPr>
          <a:xfrm>
            <a:off x="6217920" y="502920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A working chart class to copy.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CONCEPT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Requirements</a:t>
            </a:r>
            <a:endParaRPr lang="en-US" sz="3200" dirty="0"/>
          </a:p>
        </p:txBody>
      </p:sp>
      <p:sp>
        <p:nvSpPr>
          <p:cNvPr id="5" name="Point 1"/>
          <p:cNvSpPr/>
          <p:nvPr/>
        </p:nvSpPr>
        <p:spPr>
          <a:xfrm>
            <a:off x="548640" y="1874520"/>
            <a:ext cx="11094415" cy="948690"/>
          </a:xfrm>
          <a:prstGeom prst="roundRect">
            <a:avLst>
              <a:gd name="adj" fmla="val 7711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120265"/>
            <a:ext cx="457200" cy="45720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12026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1874520"/>
            <a:ext cx="9951415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73E"/>
                </a:solidFill>
              </a:rPr>
              <a:t>Design</a:t>
            </a:r>
            <a:r>
              <a:rPr lang="en-US" sz="1800" dirty="0">
                <a:solidFill>
                  <a:srgbClr val="000000"/>
                </a:solidFill>
              </a:rPr>
              <a:t>  </a:t>
            </a:r>
            <a:r>
              <a:rPr lang="en-US" sz="1600" dirty="0">
                <a:solidFill>
                  <a:srgbClr val="1F2933"/>
                </a:solidFill>
              </a:rPr>
              <a:t>an abstract class with 3+ subclasses, an interface, an enum with fields, 2+ records, an exception hierarchy.</a:t>
            </a:r>
            <a:endParaRPr lang="en-US" sz="1800" dirty="0"/>
          </a:p>
        </p:txBody>
      </p:sp>
      <p:sp>
        <p:nvSpPr>
          <p:cNvPr id="9" name="Point 2"/>
          <p:cNvSpPr/>
          <p:nvPr/>
        </p:nvSpPr>
        <p:spPr>
          <a:xfrm>
            <a:off x="548640" y="2960370"/>
            <a:ext cx="11094415" cy="948690"/>
          </a:xfrm>
          <a:prstGeom prst="roundRect">
            <a:avLst>
              <a:gd name="adj" fmla="val 7711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3206115"/>
            <a:ext cx="457200" cy="45720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320611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2960370"/>
            <a:ext cx="9951415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73E"/>
                </a:solidFill>
              </a:rPr>
              <a:t>Persistence</a:t>
            </a:r>
            <a:r>
              <a:rPr lang="en-US" sz="1800" dirty="0">
                <a:solidFill>
                  <a:srgbClr val="000000"/>
                </a:solidFill>
              </a:rPr>
              <a:t>  </a:t>
            </a:r>
            <a:r>
              <a:rPr lang="en-US" sz="1600" dirty="0">
                <a:solidFill>
                  <a:srgbClr val="1F2933"/>
                </a:solidFill>
              </a:rPr>
              <a:t>JSON save after every change; CSV import of messy data; CSV export; no crashes on corrupt files.</a:t>
            </a:r>
            <a:endParaRPr lang="en-US" sz="1800" dirty="0"/>
          </a:p>
        </p:txBody>
      </p:sp>
      <p:sp>
        <p:nvSpPr>
          <p:cNvPr id="13" name="Point 3"/>
          <p:cNvSpPr/>
          <p:nvPr/>
        </p:nvSpPr>
        <p:spPr>
          <a:xfrm>
            <a:off x="548640" y="4046220"/>
            <a:ext cx="11094415" cy="948690"/>
          </a:xfrm>
          <a:prstGeom prst="roundRect">
            <a:avLst>
              <a:gd name="adj" fmla="val 7711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4291965"/>
            <a:ext cx="457200" cy="45720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429196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4046220"/>
            <a:ext cx="9951415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73E"/>
                </a:solidFill>
              </a:rPr>
              <a:t>Modern Java</a:t>
            </a:r>
            <a:r>
              <a:rPr lang="en-US" sz="1800" dirty="0">
                <a:solidFill>
                  <a:srgbClr val="000000"/>
                </a:solidFill>
              </a:rPr>
              <a:t>  </a:t>
            </a:r>
            <a:r>
              <a:rPr lang="en-US" sz="1600" dirty="0">
                <a:solidFill>
                  <a:srgbClr val="1F2933"/>
                </a:solidFill>
              </a:rPr>
              <a:t>streams, Comparators, generics, and a recursive method that fits the problem.</a:t>
            </a:r>
            <a:endParaRPr lang="en-US" sz="1800" dirty="0"/>
          </a:p>
        </p:txBody>
      </p:sp>
      <p:sp>
        <p:nvSpPr>
          <p:cNvPr id="17" name="Point 4"/>
          <p:cNvSpPr/>
          <p:nvPr/>
        </p:nvSpPr>
        <p:spPr>
          <a:xfrm>
            <a:off x="548640" y="5132070"/>
            <a:ext cx="11094415" cy="948690"/>
          </a:xfrm>
          <a:prstGeom prst="roundRect">
            <a:avLst>
              <a:gd name="adj" fmla="val 7711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5377815"/>
            <a:ext cx="457200" cy="45720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77240" y="537781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463040" y="5132070"/>
            <a:ext cx="9951415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73E"/>
                </a:solidFill>
              </a:rPr>
              <a:t>Analysis and tests</a:t>
            </a:r>
            <a:r>
              <a:rPr lang="en-US" sz="1800" dirty="0">
                <a:solidFill>
                  <a:srgbClr val="000000"/>
                </a:solidFill>
              </a:rPr>
              <a:t>  </a:t>
            </a:r>
            <a:r>
              <a:rPr lang="en-US" sz="1600" dirty="0">
                <a:solidFill>
                  <a:srgbClr val="1F2933"/>
                </a:solidFill>
              </a:rPr>
              <a:t>5+ statistics, 3+ charts as PNGs, 40+ JUnit tests with @TempDir and @ParameterizedTest.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106424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106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TIMELINE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Stages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926287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9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Focus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9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</a:rPr>
                        <a:t>Team, repository, everyone can </a:t>
                      </a:r>
                      <a:r>
                        <a:rPr lang="en-US" sz="15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./mvnw test</a:t>
                      </a:r>
                      <a:r>
                        <a:rPr lang="en-US" sz="1500" dirty="0">
                          <a:solidFill>
                            <a:srgbClr val="1F2933"/>
                          </a:solidFill>
                        </a:rPr>
                        <a:t>, design on paper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model</a:t>
                      </a:r>
                      <a:r>
                        <a:rPr lang="en-US" sz="1500" dirty="0">
                          <a:solidFill>
                            <a:srgbClr val="1F2933"/>
                          </a:solidFill>
                        </a:rPr>
                        <a:t>, with tests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storage</a:t>
                      </a:r>
                      <a:r>
                        <a:rPr lang="en-US" sz="1500" dirty="0">
                          <a:solidFill>
                            <a:srgbClr val="1F2933"/>
                          </a:solidFill>
                        </a:rPr>
                        <a:t>: data survives a restart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ui</a:t>
                      </a:r>
                      <a:r>
                        <a:rPr lang="en-US" sz="1500" dirty="0">
                          <a:solidFill>
                            <a:srgbClr val="1F2933"/>
                          </a:solidFill>
                        </a:rPr>
                        <a:t>: usable end to end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analysis</a:t>
                      </a:r>
                      <a:r>
                        <a:rPr lang="en-US" sz="1500" dirty="0">
                          <a:solidFill>
                            <a:srgbClr val="1F2933"/>
                          </a:solidFill>
                        </a:rPr>
                        <a:t>: statistics, charts, recursion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</a:rPr>
                        <a:t>Hardening: break it, fix it, 40+ tests, stretch goals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</a:rPr>
                        <a:t>Final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</a:rPr>
                        <a:t>README, Javadoc, runnable JAR, final push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Callout"/>
          <p:cNvSpPr/>
          <p:nvPr/>
        </p:nvSpPr>
        <p:spPr>
          <a:xfrm>
            <a:off x="548640" y="5623560"/>
            <a:ext cx="11094415" cy="594360"/>
          </a:xfrm>
          <a:prstGeom prst="roundRect">
            <a:avLst>
              <a:gd name="adj" fmla="val 15385"/>
            </a:avLst>
          </a:prstGeom>
          <a:solidFill>
            <a:srgbClr val="FEEBD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5623560"/>
            <a:ext cx="106372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52536"/>
                </a:solidFill>
              </a:rPr>
              <a:t>Swap and review: try to break another team's app; leave three kind, specific suggestions as a GitHub issue.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367028" cy="310896"/>
          </a:xfrm>
          <a:prstGeom prst="roundRect">
            <a:avLst>
              <a:gd name="adj" fmla="val 50000"/>
            </a:avLst>
          </a:prstGeom>
          <a:solidFill>
            <a:srgbClr val="F8982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3670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152536"/>
                </a:solidFill>
              </a:rPr>
              <a:t>AVOID THESE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Pitfalls</a:t>
            </a:r>
            <a:endParaRPr lang="en-US" sz="3200" dirty="0"/>
          </a:p>
        </p:txBody>
      </p:sp>
      <p:sp>
        <p:nvSpPr>
          <p:cNvPr id="5" name="Mistake 1"/>
          <p:cNvSpPr/>
          <p:nvPr/>
        </p:nvSpPr>
        <p:spPr>
          <a:xfrm>
            <a:off x="548640" y="182880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27380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273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182880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Printing from </a:t>
            </a:r>
            <a:r>
              <a:rPr lang="en-US" sz="1450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r>
              <a:rPr lang="en-US" sz="1450" dirty="0">
                <a:solidFill>
                  <a:srgbClr val="FFFFFF"/>
                </a:solidFill>
              </a:rPr>
              <a:t> or </a:t>
            </a:r>
            <a:r>
              <a:rPr lang="en-US" sz="1450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storage</a:t>
            </a:r>
            <a:r>
              <a:rPr lang="en-US" sz="1450" dirty="0">
                <a:solidFill>
                  <a:srgbClr val="FFFFFF"/>
                </a:solidFill>
              </a:rPr>
              <a:t>.</a:t>
            </a:r>
            <a:endParaRPr lang="en-US" sz="1450" dirty="0"/>
          </a:p>
        </p:txBody>
      </p:sp>
      <p:sp>
        <p:nvSpPr>
          <p:cNvPr id="9" name="Mistake 2"/>
          <p:cNvSpPr/>
          <p:nvPr/>
        </p:nvSpPr>
        <p:spPr>
          <a:xfrm>
            <a:off x="6255868" y="182880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10" name="Shape 8"/>
          <p:cNvSpPr/>
          <p:nvPr/>
        </p:nvSpPr>
        <p:spPr>
          <a:xfrm>
            <a:off x="6484468" y="227380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84468" y="2273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078828" y="182880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Pushing code whose tests fail.</a:t>
            </a:r>
            <a:endParaRPr lang="en-US" sz="1450" dirty="0"/>
          </a:p>
        </p:txBody>
      </p:sp>
      <p:sp>
        <p:nvSpPr>
          <p:cNvPr id="13" name="Mistake 3"/>
          <p:cNvSpPr/>
          <p:nvPr/>
        </p:nvSpPr>
        <p:spPr>
          <a:xfrm>
            <a:off x="548640" y="336804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381304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3813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336804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Saving only on quit.</a:t>
            </a:r>
            <a:endParaRPr lang="en-US" sz="1450" dirty="0"/>
          </a:p>
        </p:txBody>
      </p:sp>
      <p:sp>
        <p:nvSpPr>
          <p:cNvPr id="17" name="Mistake 4"/>
          <p:cNvSpPr/>
          <p:nvPr/>
        </p:nvSpPr>
        <p:spPr>
          <a:xfrm>
            <a:off x="6255868" y="336804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18" name="Shape 16"/>
          <p:cNvSpPr/>
          <p:nvPr/>
        </p:nvSpPr>
        <p:spPr>
          <a:xfrm>
            <a:off x="6484468" y="381304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84468" y="3813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078828" y="336804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Forgetting to register a subclass for JSON.</a:t>
            </a:r>
            <a:endParaRPr lang="en-US" sz="1450" dirty="0"/>
          </a:p>
        </p:txBody>
      </p:sp>
      <p:sp>
        <p:nvSpPr>
          <p:cNvPr id="21" name="Mistake 5"/>
          <p:cNvSpPr/>
          <p:nvPr/>
        </p:nvSpPr>
        <p:spPr>
          <a:xfrm>
            <a:off x="548640" y="490728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22" name="Shape 20"/>
          <p:cNvSpPr/>
          <p:nvPr/>
        </p:nvSpPr>
        <p:spPr>
          <a:xfrm>
            <a:off x="777240" y="535228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77240" y="5352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371600" y="490728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Tests written the night before.</a:t>
            </a:r>
            <a:endParaRPr lang="en-US" sz="1450" dirty="0"/>
          </a:p>
        </p:txBody>
      </p:sp>
      <p:sp>
        <p:nvSpPr>
          <p:cNvPr id="25" name="Mistake 6"/>
          <p:cNvSpPr/>
          <p:nvPr/>
        </p:nvSpPr>
        <p:spPr>
          <a:xfrm>
            <a:off x="6255868" y="490728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26" name="Shape 24"/>
          <p:cNvSpPr/>
          <p:nvPr/>
        </p:nvSpPr>
        <p:spPr>
          <a:xfrm>
            <a:off x="6484468" y="535228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484468" y="5352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078828" y="490728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A README a stranger can't follow.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93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714500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7145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TRY IT YOURSELF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started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457200" cy="45720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8288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</a:rPr>
              <a:t>Confirm your team and track.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457200" cy="45720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7432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</a:rPr>
              <a:t>Create the repository; copy in the starter (with .mvn).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840480"/>
            <a:ext cx="457200" cy="45720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36576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</a:rPr>
              <a:t>Everyone runs </a:t>
            </a:r>
            <a:r>
              <a:rPr lang="en-US" sz="160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./mvnw test</a:t>
            </a:r>
            <a:r>
              <a:rPr lang="en-US" sz="1600" dirty="0">
                <a:solidFill>
                  <a:srgbClr val="1F2933"/>
                </a:solidFill>
              </a:rPr>
              <a:t> successfully.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4754880"/>
            <a:ext cx="457200" cy="45720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45720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</a:rPr>
              <a:t>Design on paper; agree who owns which package.</a:t>
            </a:r>
            <a:endParaRPr lang="en-US" sz="1600" dirty="0"/>
          </a:p>
        </p:txBody>
      </p:sp>
      <p:sp>
        <p:nvSpPr>
          <p:cNvPr id="17" name="Project card"/>
          <p:cNvSpPr/>
          <p:nvPr/>
        </p:nvSpPr>
        <p:spPr>
          <a:xfrm>
            <a:off x="7589520" y="1828800"/>
            <a:ext cx="4053535" cy="4297680"/>
          </a:xfrm>
          <a:prstGeom prst="roundRect">
            <a:avLst>
              <a:gd name="adj" fmla="val 2707"/>
            </a:avLst>
          </a:prstGeom>
          <a:solidFill>
            <a:srgbClr val="15253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09560" y="2103120"/>
            <a:ext cx="34134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89820"/>
                </a:solidFill>
              </a:rPr>
              <a:t>MODULE PROJECT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909560" y="2468880"/>
            <a:ext cx="34134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Capstone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7909560" y="3566160"/>
            <a:ext cx="341345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DCE4EE"/>
                </a:solidFill>
              </a:rPr>
              <a:t>MakerStore, SensorLab or WardWatch: tested, persistent, documented, and in your GitHub portfolio.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Java Course">
  <a:themeElements>
    <a:clrScheme name="Java Course">
      <a:dk1>
        <a:srgbClr val="1F2933"/>
      </a:dk1>
      <a:lt1>
        <a:srgbClr val="FFFFFF"/>
      </a:lt1>
      <a:dk2>
        <a:srgbClr val="152536"/>
      </a:dk2>
      <a:lt2>
        <a:srgbClr val="F4F7FB"/>
      </a:lt2>
      <a:accent1>
        <a:srgbClr val="2F6F9F"/>
      </a:accent1>
      <a:accent2>
        <a:srgbClr val="F89820"/>
      </a:accent2>
      <a:accent3>
        <a:srgbClr val="5382A1"/>
      </a:accent3>
      <a:accent4>
        <a:srgbClr val="E8833A"/>
      </a:accent4>
      <a:accent5>
        <a:srgbClr val="3FA34D"/>
      </a:accent5>
      <a:accent6>
        <a:srgbClr val="C0392B"/>
      </a:accent6>
      <a:hlink>
        <a:srgbClr val="2F6F9F"/>
      </a:hlink>
      <a:folHlink>
        <a:srgbClr val="22384F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Introduction to Java Programming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19: Capstone 2</dc:title>
  <dc:subject>Lecture slides</dc:subject>
  <dc:creator>Introduction to Java Programming</dc:creator>
  <cp:lastModifiedBy>Introduction to Java Programming</cp:lastModifiedBy>
  <cp:revision>1</cp:revision>
  <dcterms:created xsi:type="dcterms:W3CDTF">2026-10-05T04:07:23Z</dcterms:created>
  <dcterms:modified xsi:type="dcterms:W3CDTF">2026-10-05T04:07:23Z</dcterms:modified>
</cp:coreProperties>
</file>