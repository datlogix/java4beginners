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ule 12" id="{2c284bb5-5c17-6969-7ce7-5dd75ea4598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a sixth ranking from the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Ex01 to Ex03 (default and static methods).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subtract to compare: use Integer.compare / Double.compare.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Ex05 and Ex06.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Ex07 and Ex08 (planet weights).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Ex09; Ex10 is the Stack interface as an abstract data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B's self-test checks all 256 additions.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7A8"/>
                </a:solidFill>
              </a:rPr>
              <a:t>MODULE 12  ·  INTERFACES, ENUMS &amp; RECORDS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F93AD"/>
                </a:solidFill>
              </a:rPr>
              <a:t>MODULE 12  ·  INTERFACES, ENUMS &amp; RECORDS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 number"/>
          <p:cNvSpPr txBox="1"/>
          <p:nvPr/>
        </p:nvSpPr>
        <p:spPr>
          <a:xfrm>
            <a:off x="6583680" y="822960"/>
            <a:ext cx="530352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66928" cy="566928"/>
          </a:xfrm>
          <a:prstGeom prst="ellipse">
            <a:avLst/>
          </a:prstGeom>
          <a:solidFill>
            <a:srgbClr val="22384F"/>
          </a:solidFill>
          <a:ln w="19050">
            <a:solidFill>
              <a:srgbClr val="F898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5156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C7D9"/>
                </a:solidFill>
              </a:rPr>
              <a:t>INTRODUCTION TO JAVA PROGRAMMING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52536"/>
                </a:solidFill>
              </a:rPr>
              <a:t>MODULE 12</a:t>
            </a:r>
            <a:endParaRPr lang="en-US" sz="1100" dirty="0"/>
          </a:p>
        </p:txBody>
      </p:sp>
      <p:sp>
        <p:nvSpPr>
          <p:cNvPr id="8" name="Title"/>
          <p:cNvSpPr txBox="1"/>
          <p:nvPr/>
        </p:nvSpPr>
        <p:spPr>
          <a:xfrm>
            <a:off x="548640" y="260604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Interfaces, Enums &amp; Records</a:t>
            </a:r>
            <a:endParaRPr lang="en-US" sz="4000" dirty="0"/>
          </a:p>
        </p:txBody>
      </p:sp>
      <p:sp>
        <p:nvSpPr>
          <p:cNvPr id="9" name="Subtitle"/>
          <p:cNvSpPr txBox="1"/>
          <p:nvPr/>
        </p:nvSpPr>
        <p:spPr>
          <a:xfrm>
            <a:off x="548640" y="425196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8C7D9"/>
                </a:solidFill>
              </a:rPr>
              <a:t>Contracts between classes, Comparable and Comparator, lambdas, fixed sets of values, and one-line data classes.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HOOK: RUN THIS FIRST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rankings, five lines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858000" cy="3886200"/>
          </a:xfrm>
          <a:prstGeom prst="roundRect">
            <a:avLst>
              <a:gd name="adj" fmla="val 2824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63040" y="18562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Ex00Leaderboard.java</a:t>
            </a:r>
            <a:endParaRPr lang="en-US" sz="1000" dirty="0"/>
          </a:p>
        </p:txBody>
      </p:sp>
      <p:sp>
        <p:nvSpPr>
          <p:cNvPr id="10" name="Code"/>
          <p:cNvSpPr txBox="1"/>
          <p:nvPr/>
        </p:nvSpPr>
        <p:spPr>
          <a:xfrm>
            <a:off x="777240" y="2194560"/>
            <a:ext cx="64922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School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ACHIMOTA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PRESEC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WESLEY_GIRLS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School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school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r>
              <a:rPr lang="en-US" sz="14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Comparator.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comparingInt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comparing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comparingDouble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comparing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school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thenComparing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reverseOrder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comparingInt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thenComparingDouble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806440"/>
            <a:ext cx="6858000" cy="457200"/>
          </a:xfrm>
          <a:prstGeom prst="roundRect">
            <a:avLst>
              <a:gd name="adj" fmla="val 16000"/>
            </a:avLst>
          </a:prstGeom>
          <a:solidFill>
            <a:srgbClr val="1726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8064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Ex00Leaderboard.java</a:t>
            </a:r>
            <a:endParaRPr lang="en-US" sz="1300" dirty="0"/>
          </a:p>
        </p:txBody>
      </p:sp>
      <p:sp>
        <p:nvSpPr>
          <p:cNvPr id="13" name="Bullets"/>
          <p:cNvSpPr txBox="1"/>
          <p:nvPr/>
        </p:nvSpPr>
        <p:spPr>
          <a:xfrm>
            <a:off x="7818120" y="182880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The same results, five orders.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A record: a whole class in one line.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An enum: a fixed list of values.</a:t>
            </a:r>
            <a:endParaRPr lang="en-US" sz="1700" dirty="0"/>
          </a:p>
        </p:txBody>
      </p:sp>
      <p:sp>
        <p:nvSpPr>
          <p:cNvPr id="14" name="Callout"/>
          <p:cNvSpPr/>
          <p:nvPr/>
        </p:nvSpPr>
        <p:spPr>
          <a:xfrm>
            <a:off x="7818120" y="470916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EEBD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0" y="47091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Interfaces, enums and records: today's three tools.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INTERFACES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contract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675120" cy="4343400"/>
          </a:xfrm>
          <a:prstGeom prst="roundRect">
            <a:avLst>
              <a:gd name="adj" fmla="val 252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63093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Chargeable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batteryPercent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charge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minutes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Chargeable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ElectricBike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Chargeable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chargeAll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Chargeable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things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minutes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Chargeable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things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charge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minutes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Bullets"/>
          <p:cNvSpPr txBox="1"/>
          <p:nvPr/>
        </p:nvSpPr>
        <p:spPr>
          <a:xfrm>
            <a:off x="7589520" y="1828800"/>
            <a:ext cx="40690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A promise to provide methods.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Unrelated classes can sign it.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Polymorphism without inheritance.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Implement many; extend one.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106424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06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ORDERING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Comparable and Comparator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1783080"/>
            <a:ext cx="5364328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15253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9820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05740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73E"/>
                </a:solidFill>
              </a:rPr>
              <a:t>Comparable: ONE natural order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4815688" cy="175564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2743200"/>
            <a:ext cx="4632808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 implements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Comparable&lt;Student&gt;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compareTo(Student o)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id.compareTo(o.id);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1" name="Bullets"/>
          <p:cNvSpPr txBox="1"/>
          <p:nvPr/>
        </p:nvSpPr>
        <p:spPr>
          <a:xfrm>
            <a:off x="868680" y="4727448"/>
            <a:ext cx="472424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Negative, zero or positive.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Used by sort, TreeSet, TreeMap.</a:t>
            </a:r>
            <a:endParaRPr lang="en-US" sz="1550" dirty="0"/>
          </a:p>
        </p:txBody>
      </p:sp>
      <p:sp>
        <p:nvSpPr>
          <p:cNvPr id="12" name="Card 2"/>
          <p:cNvSpPr/>
          <p:nvPr/>
        </p:nvSpPr>
        <p:spPr>
          <a:xfrm>
            <a:off x="6278728" y="1783080"/>
            <a:ext cx="5364328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53048" y="2057400"/>
            <a:ext cx="502920" cy="502920"/>
          </a:xfrm>
          <a:prstGeom prst="ellipse">
            <a:avLst/>
          </a:prstGeom>
          <a:solidFill>
            <a:srgbClr val="15253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53048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9820"/>
                </a:solidFill>
              </a:rPr>
              <a:t>∞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193128" y="205740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73E"/>
                </a:solidFill>
              </a:rPr>
              <a:t>Comparator: as many as you like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553048" y="2743200"/>
            <a:ext cx="4815688" cy="101498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90208" y="2743200"/>
            <a:ext cx="463280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phones.sort(Comparator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.comparingDouble(Phone::getPrice)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.reversed());</a:t>
            </a:r>
            <a:endParaRPr lang="en-US" sz="1400" dirty="0"/>
          </a:p>
        </p:txBody>
      </p:sp>
      <p:sp>
        <p:nvSpPr>
          <p:cNvPr id="18" name="Bullets"/>
          <p:cNvSpPr txBox="1"/>
          <p:nvPr/>
        </p:nvSpPr>
        <p:spPr>
          <a:xfrm>
            <a:off x="6598768" y="3986784"/>
            <a:ext cx="4724248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Lives outside the class.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Build from a key; reverse; break ties.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LAMBDAS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tiny function, written inline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675120" cy="4343400"/>
          </a:xfrm>
          <a:prstGeom prst="roundRect">
            <a:avLst>
              <a:gd name="adj" fmla="val 252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63093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ONE abstract method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multiply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safeDivide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Runnable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"Hi"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Phone::getPrice is short for  p -&gt; p.getPrice()</a:t>
            </a:r>
            <a:endParaRPr lang="en-US" sz="1200" dirty="0"/>
          </a:p>
        </p:txBody>
      </p:sp>
      <p:sp>
        <p:nvSpPr>
          <p:cNvPr id="10" name="Bullets"/>
          <p:cNvSpPr txBox="1"/>
          <p:nvPr/>
        </p:nvSpPr>
        <p:spPr>
          <a:xfrm>
            <a:off x="7589520" y="1828800"/>
            <a:ext cx="40690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One-method interface = functional interface.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(parameters) -&gt; result</a:t>
            </a:r>
            <a:r>
              <a:rPr lang="en-US" sz="1650" dirty="0">
                <a:solidFill>
                  <a:srgbClr val="1F2933"/>
                </a:solidFill>
              </a:rPr>
              <a:t>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Method references with </a:t>
            </a:r>
            <a:r>
              <a:rPr lang="en-US" sz="16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r>
              <a:rPr lang="en-US" sz="1650" dirty="0">
                <a:solidFill>
                  <a:srgbClr val="1F2933"/>
                </a:solidFill>
              </a:rPr>
              <a:t>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ENUMS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fixed set of values, with data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675120" cy="4343400"/>
          </a:xfrm>
          <a:prstGeom prst="roundRect">
            <a:avLst>
              <a:gd name="adj" fmla="val 252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63093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4.0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B_PLUS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3.5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3.0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2.0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minimumMark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minimumMark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forMark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minimumMark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IllegalArgumentException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"Bad mark: "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0" name="Bullets"/>
          <p:cNvSpPr txBox="1"/>
          <p:nvPr/>
        </p:nvSpPr>
        <p:spPr>
          <a:xfrm>
            <a:off x="7589520" y="1828800"/>
            <a:ext cx="40690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Typos don't compile.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650" dirty="0">
                <a:solidFill>
                  <a:srgbClr val="1F2933"/>
                </a:solidFill>
              </a:rPr>
              <a:t>, switch, </a:t>
            </a:r>
            <a:r>
              <a:rPr lang="en-US" sz="16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values()</a:t>
            </a:r>
            <a:r>
              <a:rPr lang="en-US" sz="1650" dirty="0">
                <a:solidFill>
                  <a:srgbClr val="1F2933"/>
                </a:solidFill>
              </a:rPr>
              <a:t>, </a:t>
            </a:r>
            <a:r>
              <a:rPr lang="en-US" sz="16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valueOf</a:t>
            </a:r>
            <a:r>
              <a:rPr lang="en-US" sz="1650" dirty="0">
                <a:solidFill>
                  <a:srgbClr val="1F2933"/>
                </a:solidFill>
              </a:rPr>
              <a:t>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Fields, constructors, methods.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RECORDS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classes in one line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675120" cy="4343400"/>
          </a:xfrm>
          <a:prstGeom prst="roundRect">
            <a:avLst>
              <a:gd name="adj" fmla="val 252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63093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</a:t>
            </a: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 (not getX)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Point[x=3, y=4]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equals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</a:t>
            </a: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 compact constructor validates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isBlank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IllegalArgumentException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"..."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Bullets"/>
          <p:cNvSpPr txBox="1"/>
          <p:nvPr/>
        </p:nvSpPr>
        <p:spPr>
          <a:xfrm>
            <a:off x="7589520" y="1828800"/>
            <a:ext cx="40690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Constructor, getters, equals, hashCode, toString: free.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Immutable: "change" = make a new one.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Data that changes? Use a class.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193292" cy="310896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932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52536"/>
                </a:solidFill>
              </a:rPr>
              <a:t>WATCH OUT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mistakes</a:t>
            </a:r>
            <a:endParaRPr lang="en-US" sz="3200" dirty="0"/>
          </a:p>
        </p:txBody>
      </p:sp>
      <p:sp>
        <p:nvSpPr>
          <p:cNvPr id="5" name="Mistake 1"/>
          <p:cNvSpPr/>
          <p:nvPr/>
        </p:nvSpPr>
        <p:spPr>
          <a:xfrm>
            <a:off x="548640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Forgetting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50" dirty="0">
                <a:solidFill>
                  <a:srgbClr val="FFFFFF"/>
                </a:solidFill>
              </a:rPr>
              <a:t> on interface methods you implement.</a:t>
            </a:r>
            <a:endParaRPr lang="en-US" sz="1450" dirty="0"/>
          </a:p>
        </p:txBody>
      </p:sp>
      <p:sp>
        <p:nvSpPr>
          <p:cNvPr id="9" name="Mistake 2"/>
          <p:cNvSpPr/>
          <p:nvPr/>
        </p:nvSpPr>
        <p:spPr>
          <a:xfrm>
            <a:off x="6255868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6484468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84468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78828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An inconsistent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compareTo</a:t>
            </a:r>
            <a:r>
              <a:rPr lang="en-US" sz="1450" dirty="0">
                <a:solidFill>
                  <a:srgbClr val="FFFFFF"/>
                </a:solidFill>
              </a:rPr>
              <a:t>.</a:t>
            </a:r>
            <a:endParaRPr lang="en-US" sz="1450" dirty="0"/>
          </a:p>
        </p:txBody>
      </p:sp>
      <p:sp>
        <p:nvSpPr>
          <p:cNvPr id="13" name="Mistake 3"/>
          <p:cNvSpPr/>
          <p:nvPr/>
        </p:nvSpPr>
        <p:spPr>
          <a:xfrm>
            <a:off x="548640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Comparing by subtracting numbers.</a:t>
            </a:r>
            <a:endParaRPr lang="en-US" sz="1450" dirty="0"/>
          </a:p>
        </p:txBody>
      </p:sp>
      <p:sp>
        <p:nvSpPr>
          <p:cNvPr id="17" name="Mistake 4"/>
          <p:cNvSpPr/>
          <p:nvPr/>
        </p:nvSpPr>
        <p:spPr>
          <a:xfrm>
            <a:off x="6255868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84468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84468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78828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valueOf</a:t>
            </a:r>
            <a:r>
              <a:rPr lang="en-US" sz="1450" dirty="0">
                <a:solidFill>
                  <a:srgbClr val="FFFFFF"/>
                </a:solidFill>
              </a:rPr>
              <a:t> with the wrong capitals.</a:t>
            </a:r>
            <a:endParaRPr lang="en-US" sz="1450" dirty="0"/>
          </a:p>
        </p:txBody>
      </p:sp>
      <p:sp>
        <p:nvSpPr>
          <p:cNvPr id="21" name="Mistake 5"/>
          <p:cNvSpPr/>
          <p:nvPr/>
        </p:nvSpPr>
        <p:spPr>
          <a:xfrm>
            <a:off x="548640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Trying to change a record's field.</a:t>
            </a:r>
            <a:endParaRPr lang="en-US" sz="1450" dirty="0"/>
          </a:p>
        </p:txBody>
      </p:sp>
      <p:sp>
        <p:nvSpPr>
          <p:cNvPr id="25" name="Mistake 6"/>
          <p:cNvSpPr/>
          <p:nvPr/>
        </p:nvSpPr>
        <p:spPr>
          <a:xfrm>
            <a:off x="6255868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84468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84468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078828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Strings for a fixed set of categories.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71450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714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TRY IT YOURSELF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move 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288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Run every example; add a sixth ranking.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Exercise 1: resistor colour codes with an enum.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6576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Exercise 2: sorting and selecting students.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5720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Build the project in your track.</a:t>
            </a:r>
            <a:endParaRPr lang="en-US" sz="1600" dirty="0"/>
          </a:p>
        </p:txBody>
      </p:sp>
      <p:sp>
        <p:nvSpPr>
          <p:cNvPr id="17" name="Project card"/>
          <p:cNvSpPr/>
          <p:nvPr/>
        </p:nvSpPr>
        <p:spPr>
          <a:xfrm>
            <a:off x="7589520" y="1828800"/>
            <a:ext cx="4053535" cy="4297680"/>
          </a:xfrm>
          <a:prstGeom prst="roundRect">
            <a:avLst>
              <a:gd name="adj" fmla="val 2707"/>
            </a:avLst>
          </a:prstGeom>
          <a:solidFill>
            <a:srgbClr val="15253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09560" y="2103120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89820"/>
                </a:solidFill>
              </a:rPr>
              <a:t>MODULE PROJECT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2468880"/>
            <a:ext cx="3413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Contracts, Categories and Data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909560" y="3566160"/>
            <a:ext cx="341345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CE4EE"/>
                </a:solidFill>
              </a:rPr>
              <a:t>Track A: a media library. Track B: a logic gate simulator with a 4-bit adder. Track C: an emergency triage queue with a swappable rule.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5577840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9820"/>
                </a:solidFill>
              </a:rPr>
              <a:t>Next: Module 13, Exceptions &amp; Debugging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ava Course">
  <a:themeElements>
    <a:clrScheme name="Java Course">
      <a:dk1>
        <a:srgbClr val="1F2933"/>
      </a:dk1>
      <a:lt1>
        <a:srgbClr val="FFFFFF"/>
      </a:lt1>
      <a:dk2>
        <a:srgbClr val="152536"/>
      </a:dk2>
      <a:lt2>
        <a:srgbClr val="F4F7FB"/>
      </a:lt2>
      <a:accent1>
        <a:srgbClr val="2F6F9F"/>
      </a:accent1>
      <a:accent2>
        <a:srgbClr val="F89820"/>
      </a:accent2>
      <a:accent3>
        <a:srgbClr val="5382A1"/>
      </a:accent3>
      <a:accent4>
        <a:srgbClr val="E8833A"/>
      </a:accent4>
      <a:accent5>
        <a:srgbClr val="3FA34D"/>
      </a:accent5>
      <a:accent6>
        <a:srgbClr val="C0392B"/>
      </a:accent6>
      <a:hlink>
        <a:srgbClr val="2F6F9F"/>
      </a:hlink>
      <a:folHlink>
        <a:srgbClr val="22384F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Introduction to Java Programming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12: Interfaces, Enums &amp; Records</dc:title>
  <dc:subject>Lecture slides</dc:subject>
  <dc:creator>Introduction to Java Programming</dc:creator>
  <cp:lastModifiedBy>Introduction to Java Programming</cp:lastModifiedBy>
  <cp:revision>1</cp:revision>
  <dcterms:created xsi:type="dcterms:W3CDTF">2026-10-05T04:05:46Z</dcterms:created>
  <dcterms:modified xsi:type="dcterms:W3CDTF">2026-10-05T04:05:46Z</dcterms:modified>
</cp:coreProperties>
</file>