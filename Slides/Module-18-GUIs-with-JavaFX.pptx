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8" id="{22f01a91-053e-c869-0215-c17cb6f5d71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run downloads JavaFX. Swing (Module 1's drawings) is now the optional Appendix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module-info.java is given in every project. VS Code: open the folder with pom.xml, then Run. java Hello.java (single file) does NOT work with JavaFX.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Ex01. Then Ex02: button.setOnAction(e -&gt; ...) registers a handler; it doesn't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Ex03: resize the window. Ex04 text input (catch bad input, show it in the window); Ex05 choice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Ex06. Then Ex07 dialogs (Alert, TextInputDialog: showAndWait returns an Optional) and Ex08 menus, Shortcut+O, FileChooser.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Ex09 shows both. Animation: Timeline or AnimationTimer (Ex11). Never Thread.sleep in a handler.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Ex10. Then Ex12: the model-view to-do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Ex12, Ex13 (temperature.fxml, app.css), Ex14.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the window on paper first: each box is a pane. Stretch: SQLite storage (Module 14b).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18  ·  GUIS WITH JAVAFX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18  ·  GUIS WITH JAVAFX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18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GUIs with JavaFX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Stage, scene and nodes, events, layouts, binding, dialogs and menus, tables, animation, FXML and CSS, charts, and model-view separation.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game in a window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Ex00CatchTheDot.java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setOnMouseClicked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setRadius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getRadius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KeyFrame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KeyFrame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secondsLeft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secondsLeft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gameOver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examples &amp;&amp; ./mvnw javafx:run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Nothing runs top to bottom.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It WAITS, and reacts.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Event-driven programming.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Every app on your phone works like this.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GETTING JAVAFX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Maven, or the SDK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657600"/>
          </a:xfrm>
          <a:prstGeom prst="roundRect">
            <a:avLst>
              <a:gd name="adj" fmla="val 3000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openjfx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javafx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./mvnw javafx:run -Dmain=Ex03Layouts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javac --module-path /path/to/javafx-sdk-21/lib --add-modules javafx.controls -d out Hello.java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 --module-path /path/to/javafx-sdk-21/lib --add-modules javafx.controls -cp out Hello</a:t>
            </a:r>
            <a:endParaRPr lang="en-US" sz="1400" dirty="0"/>
          </a:p>
        </p:txBody>
      </p:sp>
      <p:sp>
        <p:nvSpPr>
          <p:cNvPr id="10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"JavaFX runtime components are missing": Java started without JavaFX. Use ./mvnw javafx:run, or the two VM options.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BASICS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Stage, scene and nodes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Ex01FirstWindow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"Akwaaba!"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StackPane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StackPane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setTitle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 first window"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setScene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windows start hidden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sets up JavaFX, calls 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r>
              <a:rPr lang="en-US" sz="1650" dirty="0">
                <a:solidFill>
                  <a:srgbClr val="1F2933"/>
                </a:solidFill>
              </a:rPr>
              <a:t>: the window.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</a:t>
            </a:r>
            <a:r>
              <a:rPr lang="en-US" sz="1650" dirty="0">
                <a:solidFill>
                  <a:srgbClr val="1F2933"/>
                </a:solidFill>
              </a:rPr>
              <a:t>: what's shown.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Nodes: controls, panes, shapes.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A tree: the scene graph.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LAYOUT PANES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panes do the placing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Pane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Arranges its children…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HBox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 /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VBox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in a row / a column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BorderPane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top, bottom, left, right, and centre (which gets the spare space)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GridPane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rows and columns: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grid.add(node, column, row)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StackPane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on top of each other, centred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Pane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exactly where you put them: drawings and games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Real windows nest panes. HBox.setHgrow(field, Priority.ALWAYS) lets one child stretch.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PROPERTIES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Binding: no handler code at all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valueProperty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addListener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oldValue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newValue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"now 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newValue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textProperty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valueProperty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"Level: %.0f"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disableProperty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textProperty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isEmpty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bind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Properties say when they change.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 bound property follows by itself.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Disable Save until there's a name.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DRAWING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Shapes or a canvas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Shapes (nodes)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2618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 dot = new Circle(60, 60, 20);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pane.getChildren().add(dot);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dot.setFill(Color.GOLD);   // redrawn for you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dot.setOnMouseClicked(e -&gt; ...);</a:t>
            </a:r>
            <a:endParaRPr lang="en-US" sz="12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4233672"/>
            <a:ext cx="472424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Objects that stay.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Change a property: done.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Canvas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2618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GraphicsContext gc = canvas.getGraphicsContext2D();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gc.clearRect(0, 0, w, h);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gc.setStroke(Color.BLUE);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gc.strokeLine(x1, y1, x2, y2);</a:t>
            </a:r>
            <a:endParaRPr lang="en-US" sz="10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4233672"/>
            <a:ext cx="472424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Just pixels, like Module 1.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Clear and paint again.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TABLES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TableView and ObservableList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657600"/>
          </a:xfrm>
          <a:prstGeom prst="roundRect">
            <a:avLst>
              <a:gd name="adj" fmla="val 3000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ObservableList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FXCollections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observableArrayList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TableView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TableView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TableColumn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TableColumn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setCellValueFactory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SimpleStringProperty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getValue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getColumns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"S001"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"Akua Mensah"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"BME"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3.85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4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shown at once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textProperty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addListener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setPredicate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0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Change the ObservableList, never a copy. SortedList keeps the headers clickable.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CONCEPT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Model, view, FXML, CSS and charts</a:t>
            </a:r>
            <a:endParaRPr lang="en-US" sz="3200" dirty="0"/>
          </a:p>
        </p:txBody>
      </p:sp>
      <p:sp>
        <p:nvSpPr>
          <p:cNvPr id="5" name="Point 1"/>
          <p:cNvSpPr/>
          <p:nvPr/>
        </p:nvSpPr>
        <p:spPr>
          <a:xfrm>
            <a:off x="548640" y="18745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345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9951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Model and view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data and rules with NO JavaFX, tested with JUnit; the window only displays and passes on.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27889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489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88920"/>
            <a:ext cx="9951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FXML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the layout in a file;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@FXML</a:t>
            </a:r>
            <a:r>
              <a:rPr lang="en-US" sz="1600" dirty="0">
                <a:solidFill>
                  <a:srgbClr val="1F2933"/>
                </a:solidFill>
              </a:rPr>
              <a:t> fields and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#handler</a:t>
            </a:r>
            <a:r>
              <a:rPr lang="en-US" sz="1600" dirty="0">
                <a:solidFill>
                  <a:srgbClr val="1F2933"/>
                </a:solidFill>
              </a:rPr>
              <a:t> methods in a controller. Scene Builder draws it.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37033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8633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703320"/>
            <a:ext cx="9951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CSS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 { -fx-background-color: #F89820; }</a:t>
            </a:r>
            <a:r>
              <a:rPr lang="en-US" sz="1600" dirty="0">
                <a:solidFill>
                  <a:srgbClr val="1F2933"/>
                </a:solidFill>
              </a:rPr>
              <a:t>, and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getStyleClass().add("bad")</a:t>
            </a:r>
            <a:r>
              <a:rPr lang="en-US" sz="1600" dirty="0">
                <a:solidFill>
                  <a:srgbClr val="1F2933"/>
                </a:solidFill>
              </a:rPr>
              <a:t>.</a:t>
            </a:r>
            <a:endParaRPr lang="en-US" sz="1800" dirty="0"/>
          </a:p>
        </p:txBody>
      </p:sp>
      <p:sp>
        <p:nvSpPr>
          <p:cNvPr id="17" name="Point 4"/>
          <p:cNvSpPr/>
          <p:nvPr/>
        </p:nvSpPr>
        <p:spPr>
          <a:xfrm>
            <a:off x="548640" y="46177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7777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7777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617720"/>
            <a:ext cx="9951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Charts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LineChart</a:t>
            </a:r>
            <a:r>
              <a:rPr lang="en-US" sz="1600" dirty="0">
                <a:solidFill>
                  <a:srgbClr val="1F2933"/>
                </a:solidFill>
              </a:rPr>
              <a:t>,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BarChart</a:t>
            </a:r>
            <a:r>
              <a:rPr lang="en-US" sz="1600" dirty="0">
                <a:solidFill>
                  <a:srgbClr val="1F2933"/>
                </a:solidFill>
              </a:rPr>
              <a:t>,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PieChart</a:t>
            </a:r>
            <a:r>
              <a:rPr lang="en-US" sz="1600" dirty="0">
                <a:solidFill>
                  <a:srgbClr val="1F2933"/>
                </a:solidFill>
              </a:rPr>
              <a:t>: add a point to a series and it appears.</a:t>
            </a:r>
            <a:endParaRPr lang="en-US" sz="1800" dirty="0"/>
          </a:p>
        </p:txBody>
      </p:sp>
      <p:sp>
        <p:nvSpPr>
          <p:cNvPr id="21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Exercise 2's calculator model is tested with ./mvnw test, without a window.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"JavaFX runtime components are missing".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stage.show()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 node never added to a pane, or added twice.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Thread.sleep</a:t>
            </a:r>
            <a:r>
              <a:rPr lang="en-US" sz="1450" dirty="0">
                <a:solidFill>
                  <a:srgbClr val="FFFFFF"/>
                </a:solidFill>
              </a:rPr>
              <a:t> in a handler: a frozen window.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Uncaught exceptions in handlers.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Changing a copy instead of the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ObservableList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add a bonus dot to the hook.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 unit converter, with a binding.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a calculator model that passes 16 tests.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 in your track.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Windowed Application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Track A: a study planner with a TableView. Track B: a resistor colour code calculator with a drawn resistor. Track C: a vitals dashboard with a LineChart.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19, Capstone 2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18: GUIs with JavaFX</dc:title>
  <dc:subject>Lecture slides</dc:subject>
  <dc:creator>Introduction to Java Programming</dc:creator>
  <cp:lastModifiedBy>Introduction to Java Programming</cp:lastModifiedBy>
  <cp:revision>1</cp:revision>
  <dcterms:created xsi:type="dcterms:W3CDTF">2026-10-05T05:36:11Z</dcterms:created>
  <dcterms:modified xsi:type="dcterms:W3CDTF">2026-10-05T05:36:11Z</dcterms:modified>
</cp:coreProperties>
</file>