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ule 18" id="{ef73034b-6109-8f87-f4eb-1c9d46a457f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run downloads JavaFX. Swing (Module 1's drawings) is now the optional Appendix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module-info.java is given in every project. VS Code: open the folder with pom.xml, then Run. java Hello.java (single file) does NOT work with JavaFX.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Ex01. Then Ex02: button.setOnAction(e -&gt; ...) registers a handler; it doesn't run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Ex03: resize the window. Ex04 text input (catch bad input, show it in the window); Ex05 choice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Ex06. Then Ex07 dialogs (Alert, TextInputDialog: showAndWait returns an Optional) and Ex08 menus, Shortcut+O, FileChooser.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Ex09 shows both. Animation: Timeline or AnimationTimer (Ex11). Never Thread.sleep in a handler.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Ex10. Then Ex12: the model-view to-do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Ex12, Ex13 (temperature.fxml, app.css), Ex14.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shape of the BEE 429 midsem: JavaFX + SQLite/JDBC + Maven. Demo: add a student, search 'mensah', close, reopen: the data is still there. The README covers the SDK route and the error messages.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Sketch the window on paper first: each box is a pane. Stretch: SQLite storage (Module 14b).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5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97A8"/>
                </a:solidFill>
              </a:rPr>
              <a:t>MODULE 18  ·  GUIS WITH JAVAFX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Content">
    <p:bg>
      <p:bgPr>
        <a:solidFill>
          <a:srgbClr val="15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F93AD"/>
                </a:solidFill>
              </a:rPr>
              <a:t>MODULE 18  ·  GUIS WITH JAVAFX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93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g number"/>
          <p:cNvSpPr txBox="1"/>
          <p:nvPr/>
        </p:nvSpPr>
        <p:spPr>
          <a:xfrm>
            <a:off x="6583680" y="822960"/>
            <a:ext cx="530352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0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566928" cy="566928"/>
          </a:xfrm>
          <a:prstGeom prst="ellipse">
            <a:avLst/>
          </a:prstGeom>
          <a:solidFill>
            <a:srgbClr val="22384F"/>
          </a:solidFill>
          <a:ln w="19050">
            <a:solidFill>
              <a:srgbClr val="F898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51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}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515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C7D9"/>
                </a:solidFill>
              </a:rPr>
              <a:t>INTRODUCTION TO JAVA PROGRAMMING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898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488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152536"/>
                </a:solidFill>
              </a:rPr>
              <a:t>MODULE 18</a:t>
            </a:r>
            <a:endParaRPr lang="en-US" sz="1100" dirty="0"/>
          </a:p>
        </p:txBody>
      </p:sp>
      <p:sp>
        <p:nvSpPr>
          <p:cNvPr id="8" name="Title"/>
          <p:cNvSpPr txBox="1"/>
          <p:nvPr/>
        </p:nvSpPr>
        <p:spPr>
          <a:xfrm>
            <a:off x="548640" y="260604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GUIs with JavaFX</a:t>
            </a:r>
            <a:endParaRPr lang="en-US" sz="4600" dirty="0"/>
          </a:p>
        </p:txBody>
      </p:sp>
      <p:sp>
        <p:nvSpPr>
          <p:cNvPr id="9" name="Subtitle"/>
          <p:cNvSpPr txBox="1"/>
          <p:nvPr/>
        </p:nvSpPr>
        <p:spPr>
          <a:xfrm>
            <a:off x="548640" y="42519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8C7D9"/>
                </a:solidFill>
              </a:rPr>
              <a:t>Stage, scene and nodes, events, layouts, binding, dialogs and menus, tables, animation, FXML and CSS, charts, and model-view separation.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HOOK: RUN THIS FIRST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in a window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6858000" cy="3886200"/>
          </a:xfrm>
          <a:prstGeom prst="roundRect">
            <a:avLst>
              <a:gd name="adj" fmla="val 2824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63040" y="185623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Ex00CatchTheDot.java</a:t>
            </a:r>
            <a:endParaRPr lang="en-US" sz="1000" dirty="0"/>
          </a:p>
        </p:txBody>
      </p:sp>
      <p:sp>
        <p:nvSpPr>
          <p:cNvPr id="10" name="Code"/>
          <p:cNvSpPr txBox="1"/>
          <p:nvPr/>
        </p:nvSpPr>
        <p:spPr>
          <a:xfrm>
            <a:off x="777240" y="2194560"/>
            <a:ext cx="64922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setOnMouseClicked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setRadius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Math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getRadius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jump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mover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Timeline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KeyFrame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900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jump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clock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Timeline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KeyFrame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seconds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secondsLeft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secondsLeft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gameOver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1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5806440"/>
            <a:ext cx="6858000" cy="457200"/>
          </a:xfrm>
          <a:prstGeom prst="roundRect">
            <a:avLst>
              <a:gd name="adj" fmla="val 16000"/>
            </a:avLst>
          </a:prstGeom>
          <a:solidFill>
            <a:srgbClr val="1726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80644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examples &amp;&amp; ./mvnw javafx:run</a:t>
            </a:r>
            <a:endParaRPr lang="en-US" sz="1300" dirty="0"/>
          </a:p>
        </p:txBody>
      </p:sp>
      <p:sp>
        <p:nvSpPr>
          <p:cNvPr id="13" name="Bullets"/>
          <p:cNvSpPr txBox="1"/>
          <p:nvPr/>
        </p:nvSpPr>
        <p:spPr>
          <a:xfrm>
            <a:off x="7818120" y="182880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700" dirty="0">
                <a:solidFill>
                  <a:srgbClr val="1F2933"/>
                </a:solidFill>
              </a:rPr>
              <a:t>Nothing runs top to bottom.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700" dirty="0">
                <a:solidFill>
                  <a:srgbClr val="1F2933"/>
                </a:solidFill>
              </a:rPr>
              <a:t>It WAITS, and reacts.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700" dirty="0">
                <a:solidFill>
                  <a:srgbClr val="1F2933"/>
                </a:solidFill>
              </a:rPr>
              <a:t>Event-driven programming.</a:t>
            </a:r>
            <a:endParaRPr lang="en-US" sz="1700" dirty="0"/>
          </a:p>
        </p:txBody>
      </p:sp>
      <p:sp>
        <p:nvSpPr>
          <p:cNvPr id="14" name="Callout"/>
          <p:cNvSpPr/>
          <p:nvPr/>
        </p:nvSpPr>
        <p:spPr>
          <a:xfrm>
            <a:off x="7818120" y="470916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FEEB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46720" y="47091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2536"/>
                </a:solidFill>
              </a:rPr>
              <a:t>Every app on your phone works like this.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GETTING JAVAFX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Maven, or the SDK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11094415" cy="3657600"/>
          </a:xfrm>
          <a:prstGeom prst="roundRect">
            <a:avLst>
              <a:gd name="adj" fmla="val 3000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Code"/>
          <p:cNvSpPr txBox="1"/>
          <p:nvPr/>
        </p:nvSpPr>
        <p:spPr>
          <a:xfrm>
            <a:off x="777240" y="2194560"/>
            <a:ext cx="107286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dependency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pom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xml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groupId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openjfx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groupId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artifactId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javafx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artifactId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21.0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dependency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./mvnw javafx:run -Dmain=Ex03Layouts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javac --module-path /path/to/javafx-sdk-21/lib --add-modules javafx.controls -d out Hello.java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  --module-path /path/to/javafx-sdk-21/lib --add-modules javafx.controls -cp out Hello</a:t>
            </a:r>
            <a:endParaRPr lang="en-US" sz="1400" dirty="0"/>
          </a:p>
        </p:txBody>
      </p:sp>
      <p:sp>
        <p:nvSpPr>
          <p:cNvPr id="10" name="Callout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5385"/>
            </a:avLst>
          </a:prstGeom>
          <a:solidFill>
            <a:srgbClr val="FEEBD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56235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2536"/>
                </a:solidFill>
              </a:rPr>
              <a:t>"JavaFX runtime components are missing": Java started without JavaFX. Use ./mvnw javafx:run, or the two VM options.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THE BASICS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Stage, scene and nodes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6675120" cy="4343400"/>
          </a:xfrm>
          <a:prstGeom prst="roundRect">
            <a:avLst>
              <a:gd name="adj" fmla="val 2526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Code"/>
          <p:cNvSpPr txBox="1"/>
          <p:nvPr/>
        </p:nvSpPr>
        <p:spPr>
          <a:xfrm>
            <a:off x="777240" y="2194560"/>
            <a:ext cx="63093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Ex01FirstWindow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extends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Application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@Override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"Akwaaba!"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StackPane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StackPane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setTitle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"My first window"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setScene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</a:t>
            </a:r>
            <a:r>
              <a:rPr lang="en-US" sz="10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windows start hidden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</a:t>
            </a:r>
            <a:r>
              <a:rPr lang="en-US" sz="10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sets up JavaFX, calls start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Bullets"/>
          <p:cNvSpPr txBox="1"/>
          <p:nvPr/>
        </p:nvSpPr>
        <p:spPr>
          <a:xfrm>
            <a:off x="7589520" y="1828800"/>
            <a:ext cx="406908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</a:t>
            </a:r>
            <a:r>
              <a:rPr lang="en-US" sz="1650" dirty="0">
                <a:solidFill>
                  <a:srgbClr val="1F2933"/>
                </a:solidFill>
              </a:rPr>
              <a:t>: the window.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</a:t>
            </a:r>
            <a:r>
              <a:rPr lang="en-US" sz="1650" dirty="0">
                <a:solidFill>
                  <a:srgbClr val="1F2933"/>
                </a:solidFill>
              </a:rPr>
              <a:t>: what's shown.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1F2933"/>
                </a:solidFill>
              </a:rPr>
              <a:t>Nodes: controls, panes, shapes.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1F2933"/>
                </a:solidFill>
              </a:rPr>
              <a:t>A tree: the scene graph.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453896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LAYOUT PANES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 panes do the placing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5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Pane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9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Arranges its children…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9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HBox</a:t>
                      </a: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 / </a:t>
                      </a: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VBox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in a row / a column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BorderPane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top, bottom, left, right, and centre (which gets the spare space)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GridPane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rows and columns: </a:t>
                      </a: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grid.add(node, column, row)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StackPane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on top of each other, centred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Pane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exactly where you put them: drawings and games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5385"/>
            </a:avLst>
          </a:prstGeom>
          <a:solidFill>
            <a:srgbClr val="FEEBD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235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2536"/>
                </a:solidFill>
              </a:rPr>
              <a:t>Real windows nest panes. HBox.setHgrow(field, Priority.ALWAYS) lets one child stretch.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PROPERTIES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Binding: no handler code at all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11094415" cy="3017520"/>
          </a:xfrm>
          <a:prstGeom prst="roundRect">
            <a:avLst>
              <a:gd name="adj" fmla="val 3636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Code"/>
          <p:cNvSpPr txBox="1"/>
          <p:nvPr/>
        </p:nvSpPr>
        <p:spPr>
          <a:xfrm>
            <a:off x="777240" y="2194560"/>
            <a:ext cx="1072865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slider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valueProperty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addListener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oldValue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newValue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8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"now "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newValue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</a:t>
            </a:r>
            <a:r>
              <a:rPr lang="en-US" sz="18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listen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textProperty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slider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valueProperty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asString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"Level: %.0f"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disableProperty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bind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textProperty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isEmpty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8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8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bind</a:t>
            </a:r>
            <a:endParaRPr lang="en-US" sz="1800" dirty="0"/>
          </a:p>
        </p:txBody>
      </p:sp>
      <p:sp>
        <p:nvSpPr>
          <p:cNvPr id="10" name="Bullets"/>
          <p:cNvSpPr txBox="1"/>
          <p:nvPr/>
        </p:nvSpPr>
        <p:spPr>
          <a:xfrm>
            <a:off x="64008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Properties say when they change.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A bound property follows by itself.</a:t>
            </a:r>
            <a:endParaRPr lang="en-US" sz="1550" dirty="0"/>
          </a:p>
        </p:txBody>
      </p:sp>
      <p:sp>
        <p:nvSpPr>
          <p:cNvPr id="11" name="Bullets"/>
          <p:cNvSpPr txBox="1"/>
          <p:nvPr/>
        </p:nvSpPr>
        <p:spPr>
          <a:xfrm>
            <a:off x="621792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Disable Save until there's a name.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DRAWING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Shapes or a canvas</a:t>
            </a:r>
            <a:endParaRPr lang="en-US" sz="3200" dirty="0"/>
          </a:p>
        </p:txBody>
      </p:sp>
      <p:sp>
        <p:nvSpPr>
          <p:cNvPr id="5" name="Card 1"/>
          <p:cNvSpPr/>
          <p:nvPr/>
        </p:nvSpPr>
        <p:spPr>
          <a:xfrm>
            <a:off x="548640" y="1783080"/>
            <a:ext cx="536432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15253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9820"/>
                </a:solidFill>
              </a:rPr>
              <a:t>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05740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73E"/>
                </a:solidFill>
              </a:rPr>
              <a:t>Shapes (nodes)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22960" y="2743200"/>
            <a:ext cx="4815688" cy="1261872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2743200"/>
            <a:ext cx="46328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Circle dot = new Circle(60, 60, 20);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pane.getChildren().add(dot);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dot.setFill(Color.GOLD);   // redrawn for you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dot.setOnMouseClicked(e -&gt; ...);</a:t>
            </a:r>
            <a:endParaRPr lang="en-US" sz="1200" dirty="0"/>
          </a:p>
        </p:txBody>
      </p:sp>
      <p:sp>
        <p:nvSpPr>
          <p:cNvPr id="11" name="Bullets"/>
          <p:cNvSpPr txBox="1"/>
          <p:nvPr/>
        </p:nvSpPr>
        <p:spPr>
          <a:xfrm>
            <a:off x="868680" y="4233672"/>
            <a:ext cx="4724248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Objects that stay.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Change a property: done.</a:t>
            </a:r>
            <a:endParaRPr lang="en-US" sz="1550" dirty="0"/>
          </a:p>
        </p:txBody>
      </p:sp>
      <p:sp>
        <p:nvSpPr>
          <p:cNvPr id="12" name="Card 2"/>
          <p:cNvSpPr/>
          <p:nvPr/>
        </p:nvSpPr>
        <p:spPr>
          <a:xfrm>
            <a:off x="6278728" y="1783080"/>
            <a:ext cx="536432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53048" y="2057400"/>
            <a:ext cx="502920" cy="502920"/>
          </a:xfrm>
          <a:prstGeom prst="ellipse">
            <a:avLst/>
          </a:prstGeom>
          <a:solidFill>
            <a:srgbClr val="15253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53048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9820"/>
                </a:solidFill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2057400"/>
            <a:ext cx="4267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73E"/>
                </a:solidFill>
              </a:rPr>
              <a:t>Canvas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553048" y="2743200"/>
            <a:ext cx="4815688" cy="1261872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90208" y="2743200"/>
            <a:ext cx="46328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GraphicsContext gc = canvas.getGraphicsContext2D();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gc.clearRect(0, 0, w, h);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gc.setStroke(Color.BLUE);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gc.strokeLine(x1, y1, x2, y2);</a:t>
            </a:r>
            <a:endParaRPr lang="en-US" sz="1000" dirty="0"/>
          </a:p>
        </p:txBody>
      </p:sp>
      <p:sp>
        <p:nvSpPr>
          <p:cNvPr id="18" name="Bullets"/>
          <p:cNvSpPr txBox="1"/>
          <p:nvPr/>
        </p:nvSpPr>
        <p:spPr>
          <a:xfrm>
            <a:off x="6598768" y="4233672"/>
            <a:ext cx="4724248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Just pixels, like Module 1.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Clear and paint again.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TABLES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TableView and ObservableList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11094415" cy="3657600"/>
          </a:xfrm>
          <a:prstGeom prst="roundRect">
            <a:avLst>
              <a:gd name="adj" fmla="val 3000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Code"/>
          <p:cNvSpPr txBox="1"/>
          <p:nvPr/>
        </p:nvSpPr>
        <p:spPr>
          <a:xfrm>
            <a:off x="777240" y="2194560"/>
            <a:ext cx="107286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ObservableList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FXCollections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observableArrayList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TableView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TableView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TableColumn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TableColumn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setCellValueFactory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SimpleStringProperty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getValue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getColumns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"S001"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"Akua Mensah"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"BME"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3.85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4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shown at once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FilteredList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filtered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FilteredList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textProperty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addListener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filtered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setPredicate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toLowerCase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contains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toLowerCase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</p:txBody>
      </p:sp>
      <p:sp>
        <p:nvSpPr>
          <p:cNvPr id="10" name="Callout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5385"/>
            </a:avLst>
          </a:prstGeom>
          <a:solidFill>
            <a:srgbClr val="FEEBD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56235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2536"/>
                </a:solidFill>
              </a:rPr>
              <a:t>Change the ObservableList, never a copy. SortedList keeps the headers clickable.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CONCEPT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Model, view, FXML, CSS and charts</a:t>
            </a:r>
            <a:endParaRPr lang="en-US" sz="3200" dirty="0"/>
          </a:p>
        </p:txBody>
      </p:sp>
      <p:sp>
        <p:nvSpPr>
          <p:cNvPr id="5" name="Point 1"/>
          <p:cNvSpPr/>
          <p:nvPr/>
        </p:nvSpPr>
        <p:spPr>
          <a:xfrm>
            <a:off x="548640" y="18745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03454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874520"/>
            <a:ext cx="9951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Model and view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1F2933"/>
                </a:solidFill>
              </a:rPr>
              <a:t>data and rules with NO JavaFX, tested with JUnit; the window only displays and passes on.</a:t>
            </a:r>
            <a:endParaRPr lang="en-US" sz="1800" dirty="0"/>
          </a:p>
        </p:txBody>
      </p:sp>
      <p:sp>
        <p:nvSpPr>
          <p:cNvPr id="9" name="Point 2"/>
          <p:cNvSpPr/>
          <p:nvPr/>
        </p:nvSpPr>
        <p:spPr>
          <a:xfrm>
            <a:off x="548640" y="27889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94894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788920"/>
            <a:ext cx="9951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FXML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1F2933"/>
                </a:solidFill>
              </a:rPr>
              <a:t>the layout in a file;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@FXML</a:t>
            </a:r>
            <a:r>
              <a:rPr lang="en-US" sz="1600" dirty="0">
                <a:solidFill>
                  <a:srgbClr val="1F2933"/>
                </a:solidFill>
              </a:rPr>
              <a:t> fields and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#handler</a:t>
            </a:r>
            <a:r>
              <a:rPr lang="en-US" sz="1600" dirty="0">
                <a:solidFill>
                  <a:srgbClr val="1F2933"/>
                </a:solidFill>
              </a:rPr>
              <a:t> methods in a controller. Scene Builder draws it.</a:t>
            </a:r>
            <a:endParaRPr lang="en-US" sz="1800" dirty="0"/>
          </a:p>
        </p:txBody>
      </p:sp>
      <p:sp>
        <p:nvSpPr>
          <p:cNvPr id="13" name="Point 3"/>
          <p:cNvSpPr/>
          <p:nvPr/>
        </p:nvSpPr>
        <p:spPr>
          <a:xfrm>
            <a:off x="548640" y="37033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86334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703320"/>
            <a:ext cx="9951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CSS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.button { -fx-background-color: #F89820; }</a:t>
            </a:r>
            <a:r>
              <a:rPr lang="en-US" sz="1600" dirty="0">
                <a:solidFill>
                  <a:srgbClr val="1F2933"/>
                </a:solidFill>
              </a:rPr>
              <a:t>, and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getStyleClass().add("bad")</a:t>
            </a:r>
            <a:r>
              <a:rPr lang="en-US" sz="1600" dirty="0">
                <a:solidFill>
                  <a:srgbClr val="1F2933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Point 4"/>
          <p:cNvSpPr/>
          <p:nvPr/>
        </p:nvSpPr>
        <p:spPr>
          <a:xfrm>
            <a:off x="548640" y="46177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77774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4777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617720"/>
            <a:ext cx="9951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73E"/>
                </a:solidFill>
              </a:rPr>
              <a:t>Charts</a:t>
            </a:r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LineChart</a:t>
            </a:r>
            <a:r>
              <a:rPr lang="en-US" sz="1600" dirty="0">
                <a:solidFill>
                  <a:srgbClr val="1F2933"/>
                </a:solidFill>
              </a:rPr>
              <a:t>,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BarChart</a:t>
            </a:r>
            <a:r>
              <a:rPr lang="en-US" sz="1600" dirty="0">
                <a:solidFill>
                  <a:srgbClr val="1F2933"/>
                </a:solidFill>
              </a:rPr>
              <a:t>, </a:t>
            </a:r>
            <a:r>
              <a:rPr lang="en-US" sz="160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PieChart</a:t>
            </a:r>
            <a:r>
              <a:rPr lang="en-US" sz="1600" dirty="0">
                <a:solidFill>
                  <a:srgbClr val="1F2933"/>
                </a:solidFill>
              </a:rPr>
              <a:t>: add a point to a series and it appears.</a:t>
            </a:r>
            <a:endParaRPr lang="en-US" sz="1800" dirty="0"/>
          </a:p>
        </p:txBody>
      </p:sp>
      <p:sp>
        <p:nvSpPr>
          <p:cNvPr id="21" name="Callout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5385"/>
            </a:avLst>
          </a:prstGeom>
          <a:solidFill>
            <a:srgbClr val="FEEBD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6235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2536"/>
                </a:solidFill>
              </a:rPr>
              <a:t>Exercise 2's calculator model is tested with ./mvnw test, without a window.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WORKED EXAMPLE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window onto a database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6675120" cy="4343400"/>
          </a:xfrm>
          <a:prstGeom prst="roundRect">
            <a:avLst>
              <a:gd name="adj" fmla="val 2526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63040" y="18562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worked-example-student-records</a:t>
            </a:r>
            <a:endParaRPr lang="en-US" sz="1000" dirty="0"/>
          </a:p>
        </p:txBody>
      </p:sp>
      <p:sp>
        <p:nvSpPr>
          <p:cNvPr id="10" name="Code"/>
          <p:cNvSpPr txBox="1"/>
          <p:nvPr/>
        </p:nvSpPr>
        <p:spPr>
          <a:xfrm>
            <a:off x="777240" y="2194560"/>
            <a:ext cx="63093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pom.xml              javafx-controls + sqlite-jdbc + junit-jupiter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module-info.java     requires javafx.controls;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requires java.sql;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requires org.xerial.sqlitejdbc;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             the MODEL:   a record with its rules (no JavaFX, no SQL)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StudentRepository    the STORAGE: ALL the SQL, PreparedStatements 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RecordsApp           the VIEW:    table, form, search, chart (no SQL)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start()  opens students.db      stop()  closes it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./mvnw javafx:run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./mvnw test                     11 tests, in-memory database, no window</a:t>
            </a:r>
            <a:endParaRPr lang="en-US" sz="1000" dirty="0"/>
          </a:p>
        </p:txBody>
      </p:sp>
      <p:sp>
        <p:nvSpPr>
          <p:cNvPr id="11" name="Bullets"/>
          <p:cNvSpPr txBox="1"/>
          <p:nvPr/>
        </p:nvSpPr>
        <p:spPr>
          <a:xfrm>
            <a:off x="7589520" y="1828800"/>
            <a:ext cx="406908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1F2933"/>
                </a:solidFill>
              </a:rPr>
              <a:t>Modules 14b, 17 and 18 in one app.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1F2933"/>
                </a:solidFill>
              </a:rPr>
              <a:t>Each action: form → repository → refresh.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650" dirty="0">
                <a:solidFill>
                  <a:srgbClr val="1F2933"/>
                </a:solidFill>
              </a:rPr>
              <a:t>Also runs with the JavaFX SDK.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193292" cy="310896"/>
          </a:xfrm>
          <a:prstGeom prst="roundRect">
            <a:avLst>
              <a:gd name="adj" fmla="val 50000"/>
            </a:avLst>
          </a:prstGeom>
          <a:solidFill>
            <a:srgbClr val="F898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932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152536"/>
                </a:solidFill>
              </a:rPr>
              <a:t>WATCH OUT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beginner mistakes</a:t>
            </a:r>
            <a:endParaRPr lang="en-US" sz="3200" dirty="0"/>
          </a:p>
        </p:txBody>
      </p:sp>
      <p:sp>
        <p:nvSpPr>
          <p:cNvPr id="5" name="Mistake 1"/>
          <p:cNvSpPr/>
          <p:nvPr/>
        </p:nvSpPr>
        <p:spPr>
          <a:xfrm>
            <a:off x="548640" y="182880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27380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273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82880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"JavaFX runtime components are missing".</a:t>
            </a:r>
            <a:endParaRPr lang="en-US" sz="1450" dirty="0"/>
          </a:p>
        </p:txBody>
      </p:sp>
      <p:sp>
        <p:nvSpPr>
          <p:cNvPr id="9" name="Mistake 2"/>
          <p:cNvSpPr/>
          <p:nvPr/>
        </p:nvSpPr>
        <p:spPr>
          <a:xfrm>
            <a:off x="6255868" y="182880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0" name="Shape 8"/>
          <p:cNvSpPr/>
          <p:nvPr/>
        </p:nvSpPr>
        <p:spPr>
          <a:xfrm>
            <a:off x="6484468" y="227380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84468" y="2273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78828" y="182880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Forgetting </a:t>
            </a:r>
            <a:r>
              <a:rPr lang="en-US" sz="1450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stage.show()</a:t>
            </a:r>
            <a:r>
              <a:rPr lang="en-US" sz="1450" dirty="0">
                <a:solidFill>
                  <a:srgbClr val="FFFFFF"/>
                </a:solidFill>
              </a:rPr>
              <a:t>.</a:t>
            </a:r>
            <a:endParaRPr lang="en-US" sz="1450" dirty="0"/>
          </a:p>
        </p:txBody>
      </p:sp>
      <p:sp>
        <p:nvSpPr>
          <p:cNvPr id="13" name="Mistake 3"/>
          <p:cNvSpPr/>
          <p:nvPr/>
        </p:nvSpPr>
        <p:spPr>
          <a:xfrm>
            <a:off x="548640" y="336804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81304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6804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A node never added to a pane, or added twice.</a:t>
            </a:r>
            <a:endParaRPr lang="en-US" sz="1450" dirty="0"/>
          </a:p>
        </p:txBody>
      </p:sp>
      <p:sp>
        <p:nvSpPr>
          <p:cNvPr id="17" name="Mistake 4"/>
          <p:cNvSpPr/>
          <p:nvPr/>
        </p:nvSpPr>
        <p:spPr>
          <a:xfrm>
            <a:off x="6255868" y="336804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8" name="Shape 16"/>
          <p:cNvSpPr/>
          <p:nvPr/>
        </p:nvSpPr>
        <p:spPr>
          <a:xfrm>
            <a:off x="6484468" y="381304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84468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078828" y="336804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Thread.sleep</a:t>
            </a:r>
            <a:r>
              <a:rPr lang="en-US" sz="1450" dirty="0">
                <a:solidFill>
                  <a:srgbClr val="FFFFFF"/>
                </a:solidFill>
              </a:rPr>
              <a:t> in a handler: a frozen window.</a:t>
            </a:r>
            <a:endParaRPr lang="en-US" sz="1450" dirty="0"/>
          </a:p>
        </p:txBody>
      </p:sp>
      <p:sp>
        <p:nvSpPr>
          <p:cNvPr id="21" name="Mistake 5"/>
          <p:cNvSpPr/>
          <p:nvPr/>
        </p:nvSpPr>
        <p:spPr>
          <a:xfrm>
            <a:off x="548640" y="490728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35228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352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0728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Uncaught exceptions in handlers.</a:t>
            </a:r>
            <a:endParaRPr lang="en-US" sz="1450" dirty="0"/>
          </a:p>
        </p:txBody>
      </p:sp>
      <p:sp>
        <p:nvSpPr>
          <p:cNvPr id="25" name="Mistake 6"/>
          <p:cNvSpPr/>
          <p:nvPr/>
        </p:nvSpPr>
        <p:spPr>
          <a:xfrm>
            <a:off x="6255868" y="490728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26" name="Shape 24"/>
          <p:cNvSpPr/>
          <p:nvPr/>
        </p:nvSpPr>
        <p:spPr>
          <a:xfrm>
            <a:off x="6484468" y="535228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84468" y="5352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078828" y="490728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Changing a copy instead of the </a:t>
            </a:r>
            <a:r>
              <a:rPr lang="en-US" sz="1450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ObservableList</a:t>
            </a:r>
            <a:r>
              <a:rPr lang="en-US" sz="1450" dirty="0">
                <a:solidFill>
                  <a:srgbClr val="FFFFFF"/>
                </a:solidFill>
              </a:rPr>
              <a:t>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93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TRY IT YOURSELF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move 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288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Run every example; add a bonus dot to the hook.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432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Exercise 1: a unit converter, with a binding.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576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Exercise 2: a calculator model that passes 16 tests.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5720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Build the project in your track.</a:t>
            </a:r>
            <a:endParaRPr lang="en-US" sz="1600" dirty="0"/>
          </a:p>
        </p:txBody>
      </p:sp>
      <p:sp>
        <p:nvSpPr>
          <p:cNvPr id="17" name="Project card"/>
          <p:cNvSpPr/>
          <p:nvPr/>
        </p:nvSpPr>
        <p:spPr>
          <a:xfrm>
            <a:off x="7589520" y="1828800"/>
            <a:ext cx="4053535" cy="4297680"/>
          </a:xfrm>
          <a:prstGeom prst="roundRect">
            <a:avLst>
              <a:gd name="adj" fmla="val 2707"/>
            </a:avLst>
          </a:prstGeom>
          <a:solidFill>
            <a:srgbClr val="15253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09560" y="210312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9820"/>
                </a:solidFill>
              </a:rPr>
              <a:t>MODULE PROJECT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2468880"/>
            <a:ext cx="3413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Windowed Application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3566160"/>
            <a:ext cx="34134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CE4EE"/>
                </a:solidFill>
              </a:rPr>
              <a:t>Track A: a study planner with a TableView. Track B: a resistor colour code calculator with a drawn resistor. Track C: a vitals dashboard with a LineChart.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557784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9820"/>
                </a:solidFill>
              </a:rPr>
              <a:t>Next: Module 19, Capstone 2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ava Course">
  <a:themeElements>
    <a:clrScheme name="Java Course">
      <a:dk1>
        <a:srgbClr val="1F2933"/>
      </a:dk1>
      <a:lt1>
        <a:srgbClr val="FFFFFF"/>
      </a:lt1>
      <a:dk2>
        <a:srgbClr val="152536"/>
      </a:dk2>
      <a:lt2>
        <a:srgbClr val="F4F7FB"/>
      </a:lt2>
      <a:accent1>
        <a:srgbClr val="2F6F9F"/>
      </a:accent1>
      <a:accent2>
        <a:srgbClr val="F89820"/>
      </a:accent2>
      <a:accent3>
        <a:srgbClr val="5382A1"/>
      </a:accent3>
      <a:accent4>
        <a:srgbClr val="E8833A"/>
      </a:accent4>
      <a:accent5>
        <a:srgbClr val="3FA34D"/>
      </a:accent5>
      <a:accent6>
        <a:srgbClr val="C0392B"/>
      </a:accent6>
      <a:hlink>
        <a:srgbClr val="2F6F9F"/>
      </a:hlink>
      <a:folHlink>
        <a:srgbClr val="22384F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Introduction to Java Programming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18: GUIs with JavaFX</dc:title>
  <dc:subject>Lecture slides</dc:subject>
  <dc:creator>Introduction to Java Programming</dc:creator>
  <cp:lastModifiedBy>Introduction to Java Programming</cp:lastModifiedBy>
  <cp:revision>1</cp:revision>
  <dcterms:created xsi:type="dcterms:W3CDTF">2026-10-05T06:04:39Z</dcterms:created>
  <dcterms:modified xsi:type="dcterms:W3CDTF">2026-10-05T06:04:39Z</dcterms:modified>
</cp:coreProperties>
</file>