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8" id="{bff6276c-ed02-2d54-3d31-9135f82733f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 quick class competition for the high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Ex02 and Ex04.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Ex03; Ex05 adds check boxes, radio buttons, a combo box and a slider.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Ex08. Every line of the Module 1 template now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Ex09 sketch pad, Ex10 bouncing balls.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design every project and the capstone must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the window on paper first: each box is a JPanel.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18  ·  GUIS WITH SWING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18  ·  GUIS WITH SWING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18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GUIs with Swing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Windows, components, events, layouts, dialogs, menus, custom painting, the mouse, animation, and model-view separation.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in a window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Ex00CatchTheDot.java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secondsLeft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secondsLeft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addMouseListener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MouseAdapter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mousePressed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MouseEvent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Ex00CatchTheDot.java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Catch the dot in 20 seconds.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It shrinks and speeds up.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The program </a:t>
            </a:r>
            <a:r>
              <a:rPr lang="en-US" sz="1700" b="1" dirty="0">
                <a:solidFill>
                  <a:srgbClr val="1F2933"/>
                </a:solidFill>
              </a:rPr>
              <a:t>waits</a:t>
            </a:r>
            <a:r>
              <a:rPr lang="en-US" sz="1700" dirty="0">
                <a:solidFill>
                  <a:srgbClr val="1F2933"/>
                </a:solidFill>
              </a:rPr>
              <a:t> for events.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Event-driven programming: how every app on your phone works.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WINDOWS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and containers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SwingUtilities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invokeLater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JLabel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"Akwaaba!"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 first window"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setDefaultCloseOperation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EXIT_ON_CLOSE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setVisible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last!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JFrame: a window. JPanel: a container.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Start Swing on its own thread.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EXIT_ON_CLOSE, and setVisible last.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EVENTS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Listeners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addActionListener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valueOf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"%.1f F"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NumberFormatException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"That isn't a number"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say it IN the window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The lambda runs on each click, not now.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getText</a:t>
            </a:r>
            <a:r>
              <a:rPr lang="en-US" sz="1650" dirty="0">
                <a:solidFill>
                  <a:srgbClr val="1F2933"/>
                </a:solidFill>
              </a:rPr>
              <a:t> /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Catch bad input: exceptions vanish into the terminal.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LAYOUTS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managers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Layout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Arranges…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Good for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FlowLayout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 row, wrapping like words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rows of buttons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BorderLayout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NORTH, SOUTH, EAST, WEST, CENTER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 window's shape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GridLayout(r, c)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 grid of equal cells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keypads, forms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BoxLayout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one column or row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stacks of controls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Nest panels, each with its own layout. Resize Ex03Layouts to see them behave.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CUSTOM PAINTING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Module 1 pattern, explained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WaveGraph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JPanel that draws itself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paintComponent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paintComponent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background 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Graphics2D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Graphics2D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cast to the richer type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getWidth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getHeight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setFrequency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 the data, then: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NEVER call paintComponent yourself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Swing decides when to paint.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Draw from the object's fields.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repaint()</a:t>
            </a:r>
            <a:r>
              <a:rPr lang="en-US" sz="1550" dirty="0">
                <a:solidFill>
                  <a:srgbClr val="1F2933"/>
                </a:solidFill>
              </a:rPr>
              <a:t> after every change.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MOUSE AND TIME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MouseAdapter and Timer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MouseAdapter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508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addMouseListener(new MouseAdapter()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mousePressed(MouseEvent 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 e.getX(), e.getY()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4480560"/>
            <a:ext cx="47242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An anonymous class.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Override only what you need.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javax.swing.Timer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2618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Timer(16, e -&gt;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moveTheBalls();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repaint();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}).start();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4233672"/>
            <a:ext cx="472424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Runs on Swing's thread.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NEVER Thread.sleep in a listener.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model separate from the view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869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86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The model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data and rules, with NO Swing: testable with JUnit, reusable.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30937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061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06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937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The view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displays the model, and passes the user's actions to it.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43129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6253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625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129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Example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Ex11ToDoList: a TaskList class, and a window around it that saves after every change.</a:t>
            </a:r>
            <a:endParaRPr lang="en-US" sz="1800" dirty="0"/>
          </a:p>
        </p:txBody>
      </p:sp>
      <p:sp>
        <p:nvSpPr>
          <p:cNvPr id="17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Exercise 2's calculator model is tested with: java Exercise2.java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setVisible(true)</a:t>
            </a:r>
            <a:r>
              <a:rPr lang="en-US" sz="1450" dirty="0">
                <a:solidFill>
                  <a:srgbClr val="FFFFFF"/>
                </a:solidFill>
              </a:rPr>
              <a:t> or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EXIT_ON_CLOSE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Calling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paintComponent</a:t>
            </a:r>
            <a:r>
              <a:rPr lang="en-US" sz="1450" dirty="0">
                <a:solidFill>
                  <a:srgbClr val="FFFFFF"/>
                </a:solidFill>
              </a:rPr>
              <a:t> yourself.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Changing data without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repaint()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Thread.sleep</a:t>
            </a:r>
            <a:r>
              <a:rPr lang="en-US" sz="1450" dirty="0">
                <a:solidFill>
                  <a:srgbClr val="FFFFFF"/>
                </a:solidFill>
              </a:rPr>
              <a:t> in a listener: a frozen window.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Uncaught exceptions in listeners.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All the logic inside the listeners.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add a bonus dot to the hook.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unit converter window.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a calculator with a testable model.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Windowed Application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a study planner. Track B: a resistor colour code calculator with a drawn resistor. Track C: a vitals dashboard with a live chart.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19, Capstone 2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18: GUIs with Swing</dc:title>
  <dc:subject>Lecture slides</dc:subject>
  <dc:creator>Introduction to Java Programming</dc:creator>
  <cp:lastModifiedBy>Introduction to Java Programming</cp:lastModifiedBy>
  <cp:revision>1</cp:revision>
  <dcterms:created xsi:type="dcterms:W3CDTF">2026-10-05T04:07:23Z</dcterms:created>
  <dcterms:modified xsi:type="dcterms:W3CDTF">2026-10-05T04:07:23Z</dcterms:modified>
</cp:coreProperties>
</file>