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4b" id="{d45624ba-1693-cd26-5122-de9382bab0d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from the module folder. Ask: how many lines of Module 14 code would the first question take? Optional module: Module 15 doesn't depend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Ex01, Ex02. Maven alternative: the org.xerial:sqlite-jdbc dependency. 'No suitable driver found' means the jar isn't on the class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Ex03, Ex04. Turn each row into a record straight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Ex06: run the unsafe login, then the safe one, with the same attack. One of the most common real-world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Ex07. Timings are from a lecturer laptop; yours will differ, but the ratio is dramatic.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Ex08 aggregates, Ex09 a ContactRepository that implements AutoCloseable.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2 teams can swap JSON storage for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14B  ·  DATABASES WITH SQLITE &amp; JDBC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14B  ·  DATABASES WITH SQLITE &amp; JDBC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14b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14B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with SQLite &amp; JDBC</a:t>
            </a:r>
            <a:endParaRPr lang="en-US" sz="40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Optional. Tables with rules, SQL, PreparedStatement and SQL injection, create / read / update / delete, transactions, and try-with-resources.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thousand students, five questions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-cp "lib/*" examples/Ex00StudentDatabase.java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school.db with 2,000 students in 1211 ms.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students in each programme?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SQL: SELECT programme, COUNT(*) FROM students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GROUP BY programme ORDER BY programme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BME 375   CIV 395   CSC 429   EEE 407   MEC 394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top five students?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SQL: SELECT id, name, programme, gpa FROM students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ORDER BY gpa DESC, id LIMIT 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are on probation (GPA below 2.0)?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SQL: SELECT COUNT(*) FROM students WHERE gpa &lt; 2.0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386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-cp "lib/*" examples/Ex00StudentDatabase.java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database file, built by Java.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Each question: one line of SQL.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No loops: the database does the work.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Say WHAT you want; the database works out HOW.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SETTING UP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driver, and a table with rules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java -cp "lib/*" examples/Ex01Connecting.java      // the driver jar in lib/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refuses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DriverManager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"jdbc:sqlite:shop.db"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closed automatically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JDBC is in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</a:t>
            </a:r>
            <a:r>
              <a:rPr lang="en-US" sz="1650" dirty="0">
                <a:solidFill>
                  <a:srgbClr val="1F2933"/>
                </a:solidFill>
              </a:rPr>
              <a:t>; the driver is a jar.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Constraints = validation in the database.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jdbc:sqlite::memory:</a:t>
            </a:r>
            <a:r>
              <a:rPr lang="en-US" sz="1650" dirty="0">
                <a:solidFill>
                  <a:srgbClr val="1F2933"/>
                </a:solidFill>
              </a:rPr>
              <a:t> for tests.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Every method can throw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SQLException</a:t>
            </a:r>
            <a:r>
              <a:rPr lang="en-US" sz="1650" dirty="0">
                <a:solidFill>
                  <a:srgbClr val="1F2933"/>
                </a:solidFill>
              </a:rPr>
              <a:t>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CRUD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read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657600"/>
          </a:xfrm>
          <a:prstGeom prst="roundRect">
            <a:avLst>
              <a:gd name="adj" fmla="val 3000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"INSERT INTO products (code, name, price) VALUES (?, ?, ?)"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"A01"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placeholders count from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"Arduino Uno"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180.0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name, price FROM products WHERE price &lt; ? ORDER BY price DESC"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executeQuery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cursor: starts BEFORE row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getString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getDouble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SELECT … FROM … WHERE … ORDER BY … LIMIT. LIKE '%sensor%' matches patterns.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CRUD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delete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"UPDATE products SET quantity = quantity - ? WHERE code = ? AND quantity &gt;= ?"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"A01"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5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0: nothing matched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5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r>
              <a:rPr lang="en-US" sz="1550" dirty="0">
                <a:solidFill>
                  <a:srgbClr val="1F2933"/>
                </a:solidFill>
              </a:rPr>
              <a:t> returns the rows changed.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No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550" dirty="0">
                <a:solidFill>
                  <a:srgbClr val="1F2933"/>
                </a:solidFill>
              </a:rPr>
              <a:t>: every row!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rule in the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550" dirty="0">
                <a:solidFill>
                  <a:srgbClr val="1F2933"/>
                </a:solidFill>
              </a:rPr>
              <a:t>: check and change in one step.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SECURITY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Joining text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7556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 WHERE name = '" + user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"' AND password = '" + pw + "'"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 = anything' OR '1'='1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password = 'anything' OR '1'='1'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4727448"/>
            <a:ext cx="4724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quote ends the text early.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rest becomes SQL code: logged in!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PreparedStatement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26187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 WHERE name = ? AND password = ?"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login.setString(1, user);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login.setString(2, pw);</a:t>
            </a:r>
            <a:endParaRPr lang="en-US" sz="14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4233672"/>
            <a:ext cx="47242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SQL is fixed first.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Values are only ever data.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Every value from a user, a file, or anywhere outside your code goes in through a ? placeholder.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TRANSACTIONS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or nothing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setAutoCommit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 a transaction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Kojo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both changes, together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SQLException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neither change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setAutoCommit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No money vanishes halfway.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Import files in one transaction.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5,000 inserts: 5.9 s alone, 76 ms together.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database do the work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02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0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Aggregates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600" dirty="0">
                <a:solidFill>
                  <a:srgbClr val="1F2933"/>
                </a:solidFill>
              </a:rPr>
              <a:t>: summaries without loops.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9603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61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6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603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GROUP BY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one result row per group, like Module 15's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groupingBy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0462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19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462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The repository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one class holds the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r>
              <a:rPr lang="en-US" sz="1600" dirty="0">
                <a:solidFill>
                  <a:srgbClr val="1F2933"/>
                </a:solidFill>
              </a:rPr>
              <a:t> and ALL the SQL; the rest of the program sees records.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51320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78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377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20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try-with-resources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every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r>
              <a:rPr lang="en-US" sz="1600" dirty="0">
                <a:solidFill>
                  <a:srgbClr val="1F2933"/>
                </a:solidFill>
              </a:rPr>
              <a:t>,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r>
              <a:rPr lang="en-US" sz="1600" dirty="0">
                <a:solidFill>
                  <a:srgbClr val="1F2933"/>
                </a:solidFill>
              </a:rPr>
              <a:t> and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r>
              <a:rPr lang="en-US" sz="1600" dirty="0">
                <a:solidFill>
                  <a:srgbClr val="1F2933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Running without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-cp "lib/*"</a:t>
            </a:r>
            <a:r>
              <a:rPr lang="en-US" sz="1450" dirty="0">
                <a:solidFill>
                  <a:srgbClr val="FFFFFF"/>
                </a:solidFill>
              </a:rPr>
              <a:t>: no suitable driver.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Joining user input into SQL.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Placeholders numbered from 0.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Reading a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r>
              <a:rPr lang="en-US" sz="1450" dirty="0">
                <a:solidFill>
                  <a:srgbClr val="FFFFFF"/>
                </a:solidFill>
              </a:rPr>
              <a:t> before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450" dirty="0">
                <a:solidFill>
                  <a:srgbClr val="FFFFFF"/>
                </a:solidFill>
              </a:rPr>
              <a:t>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450" dirty="0">
                <a:solidFill>
                  <a:srgbClr val="FFFFFF"/>
                </a:solidFill>
              </a:rPr>
              <a:t> with no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to close: use try-with-resources.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change the hook's questions.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library's books, CRUD.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import marks in one transaction.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 in your track.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Module 14 Project, on a Database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Move your Module 14 data into SQLite: a repository class, a table with constraints, a one-transaction import, four queries, and the same answers as before.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15, Generics, Collections &amp; Lambdas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14b: Databases with SQLite &amp; JDBC</dc:title>
  <dc:subject>Lecture slides</dc:subject>
  <dc:creator>Introduction to Java Programming</dc:creator>
  <cp:lastModifiedBy>Introduction to Java Programming</cp:lastModifiedBy>
  <cp:revision>1</cp:revision>
  <dcterms:created xsi:type="dcterms:W3CDTF">2026-10-05T05:36:11Z</dcterms:created>
  <dcterms:modified xsi:type="dcterms:W3CDTF">2026-10-05T05:36:11Z</dcterms:modified>
</cp:coreProperties>
</file>