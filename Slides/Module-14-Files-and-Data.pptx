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odule 14" id="{561f56b5-1069-f93e-c4d3-9af03359b4bd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Delete memory.txt to make it forget.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Path.of("").toAbsolutePath() shows where Java is looking.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Ex04 and Ex05.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Ex06 (messy data) and Ex07 (round trip).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Ex08 and Ex09.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values are in the project README.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525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A97A8"/>
                </a:solidFill>
              </a:rPr>
              <a:t>MODULE 14  ·  FILES &amp; DATA</a:t>
            </a:r>
            <a:endParaRPr lang="en-US" sz="9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Content">
    <p:bg>
      <p:bgPr>
        <a:solidFill>
          <a:srgbClr val="1525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7F93AD"/>
                </a:solidFill>
              </a:rPr>
              <a:t>MODULE 14  ·  FILES &amp; DATA</a:t>
            </a:r>
            <a:endParaRPr lang="en-US" sz="9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93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g number"/>
          <p:cNvSpPr txBox="1"/>
          <p:nvPr/>
        </p:nvSpPr>
        <p:spPr>
          <a:xfrm>
            <a:off x="6583680" y="822960"/>
            <a:ext cx="5303520" cy="5303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300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566928" cy="566928"/>
          </a:xfrm>
          <a:prstGeom prst="ellipse">
            <a:avLst/>
          </a:prstGeom>
          <a:solidFill>
            <a:srgbClr val="22384F"/>
          </a:solidFill>
          <a:ln w="19050">
            <a:solidFill>
              <a:srgbClr val="F8982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051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98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}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051560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8C7D9"/>
                </a:solidFill>
              </a:rPr>
              <a:t>INTRODUCTION TO JAVA PROGRAMMING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F8982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214884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152536"/>
                </a:solidFill>
              </a:rPr>
              <a:t>MODULE 14</a:t>
            </a:r>
            <a:endParaRPr lang="en-US" sz="1100" dirty="0"/>
          </a:p>
        </p:txBody>
      </p:sp>
      <p:sp>
        <p:nvSpPr>
          <p:cNvPr id="8" name="Title"/>
          <p:cNvSpPr txBox="1"/>
          <p:nvPr/>
        </p:nvSpPr>
        <p:spPr>
          <a:xfrm>
            <a:off x="548640" y="2606040"/>
            <a:ext cx="6400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Files &amp; Data</a:t>
            </a:r>
            <a:endParaRPr lang="en-US" sz="4600" dirty="0"/>
          </a:p>
        </p:txBody>
      </p:sp>
      <p:sp>
        <p:nvSpPr>
          <p:cNvPr id="9" name="Subtitle"/>
          <p:cNvSpPr txBox="1"/>
          <p:nvPr/>
        </p:nvSpPr>
        <p:spPr>
          <a:xfrm>
            <a:off x="548640" y="4251960"/>
            <a:ext cx="6309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B8C7D9"/>
                </a:solidFill>
              </a:rPr>
              <a:t>Paths, reading and writing text, appending, try-with-resources, CSV files, and surviving messy data.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2148840" cy="310896"/>
          </a:xfrm>
          <a:prstGeom prst="roundRect">
            <a:avLst>
              <a:gd name="adj" fmla="val 50000"/>
            </a:avLst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</a:rPr>
              <a:t>HOOK: RUN THIS FIRST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program that remembers you</a:t>
            </a:r>
            <a:endParaRPr lang="en-US" sz="3200" dirty="0"/>
          </a:p>
        </p:txBody>
      </p:sp>
      <p:sp>
        <p:nvSpPr>
          <p:cNvPr id="5" name="Code window"/>
          <p:cNvSpPr/>
          <p:nvPr/>
        </p:nvSpPr>
        <p:spPr>
          <a:xfrm>
            <a:off x="548640" y="1783080"/>
            <a:ext cx="6858000" cy="3886200"/>
          </a:xfrm>
          <a:prstGeom prst="roundRect">
            <a:avLst>
              <a:gd name="adj" fmla="val 2824"/>
            </a:avLst>
          </a:prstGeom>
          <a:solidFill>
            <a:srgbClr val="17263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938528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950976" y="1938528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" name="Shape 6"/>
          <p:cNvSpPr/>
          <p:nvPr/>
        </p:nvSpPr>
        <p:spPr>
          <a:xfrm>
            <a:off x="1152144" y="1938528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463040" y="1856232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two runs of Ex00Remember.java</a:t>
            </a:r>
            <a:endParaRPr lang="en-US" sz="1000" dirty="0"/>
          </a:p>
        </p:txBody>
      </p:sp>
      <p:sp>
        <p:nvSpPr>
          <p:cNvPr id="10" name="Code"/>
          <p:cNvSpPr txBox="1"/>
          <p:nvPr/>
        </p:nvSpPr>
        <p:spPr>
          <a:xfrm>
            <a:off x="777240" y="2194560"/>
            <a:ext cx="64922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java Ex00Remember.java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Hello! I don't think we've met. What's your name? Kojo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Nice to meet you, Kojo. I'll remember you.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java Ex00Remember.java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Welcome back, Kojo!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 is visit number 2. Last time was 4 Oct 2026 at 17:06.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5806440"/>
            <a:ext cx="6858000" cy="457200"/>
          </a:xfrm>
          <a:prstGeom prst="roundRect">
            <a:avLst>
              <a:gd name="adj" fmla="val 16000"/>
            </a:avLst>
          </a:prstGeom>
          <a:solidFill>
            <a:srgbClr val="17263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580644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98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 Ex00Remember.java</a:t>
            </a:r>
            <a:endParaRPr lang="en-US" sz="1300" dirty="0"/>
          </a:p>
        </p:txBody>
      </p:sp>
      <p:sp>
        <p:nvSpPr>
          <p:cNvPr id="13" name="Bullets"/>
          <p:cNvSpPr txBox="1"/>
          <p:nvPr/>
        </p:nvSpPr>
        <p:spPr>
          <a:xfrm>
            <a:off x="7818120" y="1828800"/>
            <a:ext cx="38404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700" dirty="0">
                <a:solidFill>
                  <a:srgbClr val="1F2933"/>
                </a:solidFill>
              </a:rPr>
              <a:t>Run it again and again: it counts.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700" dirty="0">
                <a:solidFill>
                  <a:srgbClr val="1F2933"/>
                </a:solidFill>
              </a:rPr>
              <a:t>Restart the computer: it still knows you.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700" dirty="0">
                <a:solidFill>
                  <a:srgbClr val="1F2933"/>
                </a:solidFill>
              </a:rPr>
              <a:t>Open memory.txt: three lines of text.</a:t>
            </a:r>
            <a:endParaRPr lang="en-US" sz="1700" dirty="0"/>
          </a:p>
        </p:txBody>
      </p:sp>
      <p:sp>
        <p:nvSpPr>
          <p:cNvPr id="14" name="Callout"/>
          <p:cNvSpPr/>
          <p:nvPr/>
        </p:nvSpPr>
        <p:spPr>
          <a:xfrm>
            <a:off x="7818120" y="4709160"/>
            <a:ext cx="3840480" cy="1463040"/>
          </a:xfrm>
          <a:prstGeom prst="roundRect">
            <a:avLst>
              <a:gd name="adj" fmla="val 6250"/>
            </a:avLst>
          </a:prstGeom>
          <a:solidFill>
            <a:srgbClr val="FEEBD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046720" y="470916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52536"/>
                </a:solidFill>
              </a:rPr>
              <a:t>Until now, every program had amnesia.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</a:rPr>
              <a:t>FILES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Whole files in one line</a:t>
            </a:r>
            <a:endParaRPr lang="en-US" sz="3200" dirty="0"/>
          </a:p>
        </p:txBody>
      </p:sp>
      <p:sp>
        <p:nvSpPr>
          <p:cNvPr id="5" name="Code window"/>
          <p:cNvSpPr/>
          <p:nvPr/>
        </p:nvSpPr>
        <p:spPr>
          <a:xfrm>
            <a:off x="548640" y="1783080"/>
            <a:ext cx="11094415" cy="3017520"/>
          </a:xfrm>
          <a:prstGeom prst="roundRect">
            <a:avLst>
              <a:gd name="adj" fmla="val 3636"/>
            </a:avLst>
          </a:prstGeom>
          <a:solidFill>
            <a:srgbClr val="17263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938528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950976" y="1938528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" name="Shape 6"/>
          <p:cNvSpPr/>
          <p:nvPr/>
        </p:nvSpPr>
        <p:spPr>
          <a:xfrm>
            <a:off x="1152144" y="1938528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Code"/>
          <p:cNvSpPr txBox="1"/>
          <p:nvPr/>
        </p:nvSpPr>
        <p:spPr>
          <a:xfrm>
            <a:off x="777240" y="2194560"/>
            <a:ext cx="10728655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6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"data"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"poem.txt"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r>
              <a:rPr lang="en-US" sz="16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data/poem.txt on any OS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Files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writeString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"Akwaaba!\n"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6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REPLACES the file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Files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6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6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"list.txt"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6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"rice"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"tomatoes"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Files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readString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6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lines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Files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readAllLines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Files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exists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Files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writeString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StandardOpenOption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StandardOpenOption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600" dirty="0"/>
          </a:p>
        </p:txBody>
      </p:sp>
      <p:sp>
        <p:nvSpPr>
          <p:cNvPr id="10" name="Bullets"/>
          <p:cNvSpPr txBox="1"/>
          <p:nvPr/>
        </p:nvSpPr>
        <p:spPr>
          <a:xfrm>
            <a:off x="640080" y="502920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1F2933"/>
                </a:solidFill>
              </a:rPr>
              <a:t>Relative paths start at the working directory.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1F2933"/>
                </a:solidFill>
              </a:rPr>
              <a:t>Every call can throw </a:t>
            </a:r>
            <a:r>
              <a:rPr lang="en-US" sz="1550" dirty="0">
                <a:solidFill>
                  <a:srgbClr val="8A2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IOException</a:t>
            </a:r>
            <a:r>
              <a:rPr lang="en-US" sz="1550" dirty="0">
                <a:solidFill>
                  <a:srgbClr val="1F2933"/>
                </a:solidFill>
              </a:rPr>
              <a:t>.</a:t>
            </a:r>
            <a:endParaRPr lang="en-US" sz="1550" dirty="0"/>
          </a:p>
        </p:txBody>
      </p:sp>
      <p:sp>
        <p:nvSpPr>
          <p:cNvPr id="11" name="Bullets"/>
          <p:cNvSpPr txBox="1"/>
          <p:nvPr/>
        </p:nvSpPr>
        <p:spPr>
          <a:xfrm>
            <a:off x="6217920" y="502920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1F2933"/>
                </a:solidFill>
              </a:rPr>
              <a:t>APPEND adds instead of replacing.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1453896" cy="310896"/>
          </a:xfrm>
          <a:prstGeom prst="roundRect">
            <a:avLst>
              <a:gd name="adj" fmla="val 50000"/>
            </a:avLst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453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</a:rPr>
              <a:t>LINE BY LINE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try-with-resources</a:t>
            </a:r>
            <a:endParaRPr lang="en-US" sz="3200" dirty="0"/>
          </a:p>
        </p:txBody>
      </p:sp>
      <p:sp>
        <p:nvSpPr>
          <p:cNvPr id="5" name="Code window"/>
          <p:cNvSpPr/>
          <p:nvPr/>
        </p:nvSpPr>
        <p:spPr>
          <a:xfrm>
            <a:off x="548640" y="1783080"/>
            <a:ext cx="11094415" cy="3017520"/>
          </a:xfrm>
          <a:prstGeom prst="roundRect">
            <a:avLst>
              <a:gd name="adj" fmla="val 3636"/>
            </a:avLst>
          </a:prstGeom>
          <a:solidFill>
            <a:srgbClr val="17263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938528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950976" y="1938528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" name="Shape 6"/>
          <p:cNvSpPr/>
          <p:nvPr/>
        </p:nvSpPr>
        <p:spPr>
          <a:xfrm>
            <a:off x="1152144" y="1938528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Code"/>
          <p:cNvSpPr txBox="1"/>
          <p:nvPr/>
        </p:nvSpPr>
        <p:spPr>
          <a:xfrm>
            <a:off x="777240" y="2194560"/>
            <a:ext cx="10728655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BufferedReader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reader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Files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newBufferedReader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PrintWriter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writer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PrintWriter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Files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newBufferedWriter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5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5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reader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readLine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writer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toUpperCase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catch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IOException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5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"File problem: "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getMessage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500" dirty="0"/>
          </a:p>
        </p:txBody>
      </p:sp>
      <p:sp>
        <p:nvSpPr>
          <p:cNvPr id="10" name="Bullets"/>
          <p:cNvSpPr txBox="1"/>
          <p:nvPr/>
        </p:nvSpPr>
        <p:spPr>
          <a:xfrm>
            <a:off x="640080" y="502920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1F2933"/>
                </a:solidFill>
              </a:rPr>
              <a:t>Closed automatically, always.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1F2933"/>
                </a:solidFill>
              </a:rPr>
              <a:t>Little memory, even for huge files.</a:t>
            </a:r>
            <a:endParaRPr lang="en-US" sz="1550" dirty="0"/>
          </a:p>
        </p:txBody>
      </p:sp>
      <p:sp>
        <p:nvSpPr>
          <p:cNvPr id="11" name="Bullets"/>
          <p:cNvSpPr txBox="1"/>
          <p:nvPr/>
        </p:nvSpPr>
        <p:spPr>
          <a:xfrm>
            <a:off x="6217920" y="502920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1F2933"/>
                </a:solidFill>
              </a:rPr>
              <a:t>A Scanner can read files too.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</a:rPr>
              <a:t>CSV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rows into records</a:t>
            </a:r>
            <a:endParaRPr lang="en-US" sz="3200" dirty="0"/>
          </a:p>
        </p:txBody>
      </p:sp>
      <p:sp>
        <p:nvSpPr>
          <p:cNvPr id="5" name="Code window"/>
          <p:cNvSpPr/>
          <p:nvPr/>
        </p:nvSpPr>
        <p:spPr>
          <a:xfrm>
            <a:off x="548640" y="1783080"/>
            <a:ext cx="11094415" cy="3017520"/>
          </a:xfrm>
          <a:prstGeom prst="roundRect">
            <a:avLst>
              <a:gd name="adj" fmla="val 3636"/>
            </a:avLst>
          </a:prstGeom>
          <a:solidFill>
            <a:srgbClr val="17263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938528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950976" y="1938528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" name="Shape 6"/>
          <p:cNvSpPr/>
          <p:nvPr/>
        </p:nvSpPr>
        <p:spPr>
          <a:xfrm>
            <a:off x="1152144" y="1938528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Code"/>
          <p:cNvSpPr txBox="1"/>
          <p:nvPr/>
        </p:nvSpPr>
        <p:spPr>
          <a:xfrm>
            <a:off x="777240" y="2194560"/>
            <a:ext cx="10728655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lines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size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r>
              <a:rPr lang="en-US" sz="12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skip the header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lines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split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","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2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length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r>
              <a:rPr lang="en-US" sz="12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throw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IllegalArgumentException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"expected 4 fields, found "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length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students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2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2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2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parseDouble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2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catch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IllegalArgumentException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2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 Skipping line "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": "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getMessage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10" name="Bullets"/>
          <p:cNvSpPr txBox="1"/>
          <p:nvPr/>
        </p:nvSpPr>
        <p:spPr>
          <a:xfrm>
            <a:off x="640080" y="502920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1F2933"/>
                </a:solidFill>
              </a:rPr>
              <a:t>Catch errors </a:t>
            </a:r>
            <a:r>
              <a:rPr lang="en-US" sz="1550" b="1" dirty="0">
                <a:solidFill>
                  <a:srgbClr val="1F2933"/>
                </a:solidFill>
              </a:rPr>
              <a:t>per line</a:t>
            </a:r>
            <a:r>
              <a:rPr lang="en-US" sz="1550" dirty="0">
                <a:solidFill>
                  <a:srgbClr val="1F2933"/>
                </a:solidFill>
              </a:rPr>
              <a:t>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1F2933"/>
                </a:solidFill>
              </a:rPr>
              <a:t>Say which line and why.</a:t>
            </a:r>
            <a:endParaRPr lang="en-US" sz="1550" dirty="0"/>
          </a:p>
        </p:txBody>
      </p:sp>
      <p:sp>
        <p:nvSpPr>
          <p:cNvPr id="11" name="Bullets"/>
          <p:cNvSpPr txBox="1"/>
          <p:nvPr/>
        </p:nvSpPr>
        <p:spPr>
          <a:xfrm>
            <a:off x="6217920" y="502920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8A2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toCsv()</a:t>
            </a:r>
            <a:r>
              <a:rPr lang="en-US" sz="1550" dirty="0">
                <a:solidFill>
                  <a:srgbClr val="1F2933"/>
                </a:solidFill>
              </a:rPr>
              <a:t> + </a:t>
            </a:r>
            <a:r>
              <a:rPr lang="en-US" sz="1550" dirty="0">
                <a:solidFill>
                  <a:srgbClr val="8A2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fromCsv()</a:t>
            </a:r>
            <a:r>
              <a:rPr lang="en-US" sz="1550" dirty="0">
                <a:solidFill>
                  <a:srgbClr val="1F2933"/>
                </a:solidFill>
              </a:rPr>
              <a:t> = a round trip.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</a:rPr>
              <a:t>ALSO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Folders, settings, and JSON</a:t>
            </a:r>
            <a:endParaRPr lang="en-US" sz="3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5120640"/>
                <a:gridCol w="597103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Code / idea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F9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In short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F9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8A2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Files.createDirectories(path)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</a:rPr>
                        <a:t>Make every missing folder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8A2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folder.resolve("a.txt")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</a:rPr>
                        <a:t>Folder + file name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8A2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Files.list</a:t>
                      </a:r>
                      <a:r>
                        <a:rPr lang="en-US" sz="1700" dirty="0">
                          <a:solidFill>
                            <a:srgbClr val="1F2933"/>
                          </a:solidFill>
                        </a:rPr>
                        <a:t>, </a:t>
                      </a:r>
                      <a:r>
                        <a:rPr lang="en-US" sz="1700" dirty="0">
                          <a:solidFill>
                            <a:srgbClr val="8A2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Files.delete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</a:rPr>
                        <a:t>List a folder / delete for good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8A2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Properties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</a:rPr>
                        <a:t>key=value settings files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</a:rPr>
                        <a:t>JSON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</a:rPr>
                        <a:t>Needs a library (Gson): Module 17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1193292" cy="310896"/>
          </a:xfrm>
          <a:prstGeom prst="roundRect">
            <a:avLst>
              <a:gd name="adj" fmla="val 50000"/>
            </a:avLst>
          </a:prstGeom>
          <a:solidFill>
            <a:srgbClr val="F8982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1932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152536"/>
                </a:solidFill>
              </a:rPr>
              <a:t>WATCH OUT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beginner mistakes</a:t>
            </a:r>
            <a:endParaRPr lang="en-US" sz="3200" dirty="0"/>
          </a:p>
        </p:txBody>
      </p:sp>
      <p:sp>
        <p:nvSpPr>
          <p:cNvPr id="5" name="Mistake 1"/>
          <p:cNvSpPr/>
          <p:nvPr/>
        </p:nvSpPr>
        <p:spPr>
          <a:xfrm>
            <a:off x="548640" y="1828800"/>
            <a:ext cx="5387188" cy="1310640"/>
          </a:xfrm>
          <a:prstGeom prst="roundRect">
            <a:avLst>
              <a:gd name="adj" fmla="val 5581"/>
            </a:avLst>
          </a:prstGeom>
          <a:solidFill>
            <a:srgbClr val="22384F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273808"/>
            <a:ext cx="420624" cy="420624"/>
          </a:xfrm>
          <a:prstGeom prst="ellipse">
            <a:avLst/>
          </a:prstGeom>
          <a:solidFill>
            <a:srgbClr val="F8982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2738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536"/>
                </a:solidFill>
              </a:rPr>
              <a:t>!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1828800"/>
            <a:ext cx="4381348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The wrong working directory.</a:t>
            </a:r>
            <a:endParaRPr lang="en-US" sz="1450" dirty="0"/>
          </a:p>
        </p:txBody>
      </p:sp>
      <p:sp>
        <p:nvSpPr>
          <p:cNvPr id="9" name="Mistake 2"/>
          <p:cNvSpPr/>
          <p:nvPr/>
        </p:nvSpPr>
        <p:spPr>
          <a:xfrm>
            <a:off x="6255868" y="1828800"/>
            <a:ext cx="5387188" cy="1310640"/>
          </a:xfrm>
          <a:prstGeom prst="roundRect">
            <a:avLst>
              <a:gd name="adj" fmla="val 5581"/>
            </a:avLst>
          </a:prstGeom>
          <a:solidFill>
            <a:srgbClr val="22384F"/>
          </a:solidFill>
          <a:ln/>
        </p:spPr>
      </p:sp>
      <p:sp>
        <p:nvSpPr>
          <p:cNvPr id="10" name="Shape 8"/>
          <p:cNvSpPr/>
          <p:nvPr/>
        </p:nvSpPr>
        <p:spPr>
          <a:xfrm>
            <a:off x="6484468" y="2273808"/>
            <a:ext cx="420624" cy="420624"/>
          </a:xfrm>
          <a:prstGeom prst="ellipse">
            <a:avLst/>
          </a:prstGeom>
          <a:solidFill>
            <a:srgbClr val="F8982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84468" y="22738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536"/>
                </a:solidFill>
              </a:rPr>
              <a:t>!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078828" y="1828800"/>
            <a:ext cx="4381348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Forgetting that writing replaces.</a:t>
            </a:r>
            <a:endParaRPr lang="en-US" sz="1450" dirty="0"/>
          </a:p>
        </p:txBody>
      </p:sp>
      <p:sp>
        <p:nvSpPr>
          <p:cNvPr id="13" name="Mistake 3"/>
          <p:cNvSpPr/>
          <p:nvPr/>
        </p:nvSpPr>
        <p:spPr>
          <a:xfrm>
            <a:off x="548640" y="3368040"/>
            <a:ext cx="5387188" cy="1310640"/>
          </a:xfrm>
          <a:prstGeom prst="roundRect">
            <a:avLst>
              <a:gd name="adj" fmla="val 5581"/>
            </a:avLst>
          </a:prstGeom>
          <a:solidFill>
            <a:srgbClr val="22384F"/>
          </a:solidFill>
          <a:ln/>
        </p:spPr>
      </p:sp>
      <p:sp>
        <p:nvSpPr>
          <p:cNvPr id="14" name="Shape 12"/>
          <p:cNvSpPr/>
          <p:nvPr/>
        </p:nvSpPr>
        <p:spPr>
          <a:xfrm>
            <a:off x="777240" y="3813048"/>
            <a:ext cx="420624" cy="420624"/>
          </a:xfrm>
          <a:prstGeom prst="ellipse">
            <a:avLst/>
          </a:prstGeom>
          <a:solidFill>
            <a:srgbClr val="F8982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3813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536"/>
                </a:solidFill>
              </a:rPr>
              <a:t>!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3368040"/>
            <a:ext cx="4381348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Not closing readers and writers.</a:t>
            </a:r>
            <a:endParaRPr lang="en-US" sz="1450" dirty="0"/>
          </a:p>
        </p:txBody>
      </p:sp>
      <p:sp>
        <p:nvSpPr>
          <p:cNvPr id="17" name="Mistake 4"/>
          <p:cNvSpPr/>
          <p:nvPr/>
        </p:nvSpPr>
        <p:spPr>
          <a:xfrm>
            <a:off x="6255868" y="3368040"/>
            <a:ext cx="5387188" cy="1310640"/>
          </a:xfrm>
          <a:prstGeom prst="roundRect">
            <a:avLst>
              <a:gd name="adj" fmla="val 5581"/>
            </a:avLst>
          </a:prstGeom>
          <a:solidFill>
            <a:srgbClr val="22384F"/>
          </a:solidFill>
          <a:ln/>
        </p:spPr>
      </p:sp>
      <p:sp>
        <p:nvSpPr>
          <p:cNvPr id="18" name="Shape 16"/>
          <p:cNvSpPr/>
          <p:nvPr/>
        </p:nvSpPr>
        <p:spPr>
          <a:xfrm>
            <a:off x="6484468" y="3813048"/>
            <a:ext cx="420624" cy="420624"/>
          </a:xfrm>
          <a:prstGeom prst="ellipse">
            <a:avLst/>
          </a:prstGeom>
          <a:solidFill>
            <a:srgbClr val="F8982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84468" y="3813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536"/>
                </a:solidFill>
              </a:rPr>
              <a:t>!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078828" y="3368040"/>
            <a:ext cx="4381348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Typing slashes instead of </a:t>
            </a:r>
            <a:r>
              <a:rPr lang="en-US" sz="1450" dirty="0">
                <a:solidFill>
                  <a:srgbClr val="F898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Path.of(a, b)</a:t>
            </a:r>
            <a:r>
              <a:rPr lang="en-US" sz="1450" dirty="0">
                <a:solidFill>
                  <a:srgbClr val="FFFFFF"/>
                </a:solidFill>
              </a:rPr>
              <a:t>.</a:t>
            </a:r>
            <a:endParaRPr lang="en-US" sz="1450" dirty="0"/>
          </a:p>
        </p:txBody>
      </p:sp>
      <p:sp>
        <p:nvSpPr>
          <p:cNvPr id="21" name="Mistake 5"/>
          <p:cNvSpPr/>
          <p:nvPr/>
        </p:nvSpPr>
        <p:spPr>
          <a:xfrm>
            <a:off x="548640" y="4907280"/>
            <a:ext cx="5387188" cy="1310640"/>
          </a:xfrm>
          <a:prstGeom prst="roundRect">
            <a:avLst>
              <a:gd name="adj" fmla="val 5581"/>
            </a:avLst>
          </a:prstGeom>
          <a:solidFill>
            <a:srgbClr val="22384F"/>
          </a:solidFill>
          <a:ln/>
        </p:spPr>
      </p:sp>
      <p:sp>
        <p:nvSpPr>
          <p:cNvPr id="22" name="Shape 20"/>
          <p:cNvSpPr/>
          <p:nvPr/>
        </p:nvSpPr>
        <p:spPr>
          <a:xfrm>
            <a:off x="777240" y="5352288"/>
            <a:ext cx="420624" cy="420624"/>
          </a:xfrm>
          <a:prstGeom prst="ellipse">
            <a:avLst/>
          </a:prstGeom>
          <a:solidFill>
            <a:srgbClr val="F8982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77240" y="53522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536"/>
                </a:solidFill>
              </a:rPr>
              <a:t>!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371600" y="4907280"/>
            <a:ext cx="4381348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Not skipping the CSV header.</a:t>
            </a:r>
            <a:endParaRPr lang="en-US" sz="1450" dirty="0"/>
          </a:p>
        </p:txBody>
      </p:sp>
      <p:sp>
        <p:nvSpPr>
          <p:cNvPr id="25" name="Mistake 6"/>
          <p:cNvSpPr/>
          <p:nvPr/>
        </p:nvSpPr>
        <p:spPr>
          <a:xfrm>
            <a:off x="6255868" y="4907280"/>
            <a:ext cx="5387188" cy="1310640"/>
          </a:xfrm>
          <a:prstGeom prst="roundRect">
            <a:avLst>
              <a:gd name="adj" fmla="val 5581"/>
            </a:avLst>
          </a:prstGeom>
          <a:solidFill>
            <a:srgbClr val="22384F"/>
          </a:solidFill>
          <a:ln/>
        </p:spPr>
      </p:sp>
      <p:sp>
        <p:nvSpPr>
          <p:cNvPr id="26" name="Shape 24"/>
          <p:cNvSpPr/>
          <p:nvPr/>
        </p:nvSpPr>
        <p:spPr>
          <a:xfrm>
            <a:off x="6484468" y="5352288"/>
            <a:ext cx="420624" cy="420624"/>
          </a:xfrm>
          <a:prstGeom prst="ellipse">
            <a:avLst/>
          </a:prstGeom>
          <a:solidFill>
            <a:srgbClr val="F89820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484468" y="53522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536"/>
                </a:solidFill>
              </a:rPr>
              <a:t>!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7078828" y="4907280"/>
            <a:ext cx="4381348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One bad line crashing the whole load.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93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1714500" cy="310896"/>
          </a:xfrm>
          <a:prstGeom prst="roundRect">
            <a:avLst>
              <a:gd name="adj" fmla="val 50000"/>
            </a:avLst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7145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</a:rPr>
              <a:t>TRY IT YOURSELF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you move 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457200" cy="45720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82880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</a:rPr>
              <a:t>Run every example from the examples folder.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457200" cy="45720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74320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</a:rPr>
              <a:t>Exercise 1: a notes app that remembers.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3840480"/>
            <a:ext cx="457200" cy="45720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365760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</a:rPr>
              <a:t>Exercise 2: process marks.csv into a report.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4754880"/>
            <a:ext cx="457200" cy="45720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4754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457200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</a:rPr>
              <a:t>Build the project in your track.</a:t>
            </a:r>
            <a:endParaRPr lang="en-US" sz="1600" dirty="0"/>
          </a:p>
        </p:txBody>
      </p:sp>
      <p:sp>
        <p:nvSpPr>
          <p:cNvPr id="17" name="Project card"/>
          <p:cNvSpPr/>
          <p:nvPr/>
        </p:nvSpPr>
        <p:spPr>
          <a:xfrm>
            <a:off x="7589520" y="1828800"/>
            <a:ext cx="4053535" cy="4297680"/>
          </a:xfrm>
          <a:prstGeom prst="roundRect">
            <a:avLst>
              <a:gd name="adj" fmla="val 2707"/>
            </a:avLst>
          </a:prstGeom>
          <a:solidFill>
            <a:srgbClr val="15253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09560" y="2103120"/>
            <a:ext cx="34134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89820"/>
                </a:solidFill>
              </a:rPr>
              <a:t>MODULE PROJECT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909560" y="2468880"/>
            <a:ext cx="34134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Programs That Remember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7909560" y="3566160"/>
            <a:ext cx="341345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DCE4EE"/>
                </a:solidFill>
              </a:rPr>
              <a:t>Track A: an expense tracker. Track B: a bench data logger analyser (energy by the trapezium rule). Track C: a patient vitals log with alerts.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7909560" y="5577840"/>
            <a:ext cx="34134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9820"/>
                </a:solidFill>
              </a:rPr>
              <a:t>Next: Module 15 (or the optional 14b, Databases)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Java Course">
  <a:themeElements>
    <a:clrScheme name="Java Course">
      <a:dk1>
        <a:srgbClr val="1F2933"/>
      </a:dk1>
      <a:lt1>
        <a:srgbClr val="FFFFFF"/>
      </a:lt1>
      <a:dk2>
        <a:srgbClr val="152536"/>
      </a:dk2>
      <a:lt2>
        <a:srgbClr val="F4F7FB"/>
      </a:lt2>
      <a:accent1>
        <a:srgbClr val="2F6F9F"/>
      </a:accent1>
      <a:accent2>
        <a:srgbClr val="F89820"/>
      </a:accent2>
      <a:accent3>
        <a:srgbClr val="5382A1"/>
      </a:accent3>
      <a:accent4>
        <a:srgbClr val="E8833A"/>
      </a:accent4>
      <a:accent5>
        <a:srgbClr val="3FA34D"/>
      </a:accent5>
      <a:accent6>
        <a:srgbClr val="C0392B"/>
      </a:accent6>
      <a:hlink>
        <a:srgbClr val="2F6F9F"/>
      </a:hlink>
      <a:folHlink>
        <a:srgbClr val="22384F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Introduction to Java Programming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14: Files &amp; Data</dc:title>
  <dc:subject>Lecture slides</dc:subject>
  <dc:creator>Introduction to Java Programming</dc:creator>
  <cp:lastModifiedBy>Introduction to Java Programming</cp:lastModifiedBy>
  <cp:revision>1</cp:revision>
  <dcterms:created xsi:type="dcterms:W3CDTF">2026-10-05T05:36:12Z</dcterms:created>
  <dcterms:modified xsi:type="dcterms:W3CDTF">2026-10-05T05:36:12Z</dcterms:modified>
</cp:coreProperties>
</file>