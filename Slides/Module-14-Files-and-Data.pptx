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ule 14" id="{cab94b21-30a2-bc0c-3bc3-b13af246fb0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memory.txt to make it forget.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Path.of("").toAbsolutePath() shows where Java is looking.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Ex04 and Ex05.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Ex06 (messy data) and Ex07 (round trip).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Ex08 and Ex09.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values are in the project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7A8"/>
                </a:solidFill>
              </a:rPr>
              <a:t>MODULE 14  ·  FILES &amp; DATA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Content">
    <p:bg>
      <p:bgPr>
        <a:solidFill>
          <a:srgbClr val="1525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F93AD"/>
                </a:solidFill>
              </a:rPr>
              <a:t>MODULE 14  ·  FILES &amp; DATA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g number"/>
          <p:cNvSpPr txBox="1"/>
          <p:nvPr/>
        </p:nvSpPr>
        <p:spPr>
          <a:xfrm>
            <a:off x="6583680" y="822960"/>
            <a:ext cx="530352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566928" cy="566928"/>
          </a:xfrm>
          <a:prstGeom prst="ellipse">
            <a:avLst/>
          </a:prstGeom>
          <a:solidFill>
            <a:srgbClr val="22384F"/>
          </a:solidFill>
          <a:ln w="19050">
            <a:solidFill>
              <a:srgbClr val="F898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51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515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C7D9"/>
                </a:solidFill>
              </a:rPr>
              <a:t>INTRODUCTION TO JAVA PROGRAMMING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152536"/>
                </a:solidFill>
              </a:rPr>
              <a:t>MODULE 14</a:t>
            </a:r>
            <a:endParaRPr lang="en-US" sz="1100" dirty="0"/>
          </a:p>
        </p:txBody>
      </p:sp>
      <p:sp>
        <p:nvSpPr>
          <p:cNvPr id="8" name="Title"/>
          <p:cNvSpPr txBox="1"/>
          <p:nvPr/>
        </p:nvSpPr>
        <p:spPr>
          <a:xfrm>
            <a:off x="548640" y="260604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 &amp; Data</a:t>
            </a:r>
            <a:endParaRPr lang="en-US" sz="4600" dirty="0"/>
          </a:p>
        </p:txBody>
      </p:sp>
      <p:sp>
        <p:nvSpPr>
          <p:cNvPr id="9" name="Subtitle"/>
          <p:cNvSpPr txBox="1"/>
          <p:nvPr/>
        </p:nvSpPr>
        <p:spPr>
          <a:xfrm>
            <a:off x="548640" y="42519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8C7D9"/>
                </a:solidFill>
              </a:rPr>
              <a:t>Paths, reading and writing text, appending, try-with-resources, CSV files, and surviving messy data.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HOOK: RUN THIS FIRST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program that remembers you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6858000" cy="3886200"/>
          </a:xfrm>
          <a:prstGeom prst="roundRect">
            <a:avLst>
              <a:gd name="adj" fmla="val 2824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18562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runs of Ex00Remember.java</a:t>
            </a:r>
            <a:endParaRPr lang="en-US" sz="1000" dirty="0"/>
          </a:p>
        </p:txBody>
      </p:sp>
      <p:sp>
        <p:nvSpPr>
          <p:cNvPr id="10" name="Code"/>
          <p:cNvSpPr txBox="1"/>
          <p:nvPr/>
        </p:nvSpPr>
        <p:spPr>
          <a:xfrm>
            <a:off x="777240" y="2194560"/>
            <a:ext cx="64922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Ex00Remember.java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Hello! I don't think we've met. What's your name? Kojo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Nice to meet you, Kojo. I'll remember you.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java Ex00Remember.java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 back, Kojo!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is visit number 2. Last time was 4 Oct 2026 at 17:06.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806440"/>
            <a:ext cx="6858000" cy="457200"/>
          </a:xfrm>
          <a:prstGeom prst="roundRect">
            <a:avLst>
              <a:gd name="adj" fmla="val 16000"/>
            </a:avLst>
          </a:prstGeom>
          <a:solidFill>
            <a:srgbClr val="1726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8064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Ex00Remember.java</a:t>
            </a:r>
            <a:endParaRPr lang="en-US" sz="1300" dirty="0"/>
          </a:p>
        </p:txBody>
      </p:sp>
      <p:sp>
        <p:nvSpPr>
          <p:cNvPr id="13" name="Bullets"/>
          <p:cNvSpPr txBox="1"/>
          <p:nvPr/>
        </p:nvSpPr>
        <p:spPr>
          <a:xfrm>
            <a:off x="7818120" y="182880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Run it again and again: it counts.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Restart the computer: it still knows you.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700" dirty="0">
                <a:solidFill>
                  <a:srgbClr val="1F2933"/>
                </a:solidFill>
              </a:rPr>
              <a:t>Open memory.txt: three lines of text.</a:t>
            </a:r>
            <a:endParaRPr lang="en-US" sz="1700" dirty="0"/>
          </a:p>
        </p:txBody>
      </p:sp>
      <p:sp>
        <p:nvSpPr>
          <p:cNvPr id="14" name="Callout"/>
          <p:cNvSpPr/>
          <p:nvPr/>
        </p:nvSpPr>
        <p:spPr>
          <a:xfrm>
            <a:off x="7818120" y="470916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EEB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46720" y="4709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2536"/>
                </a:solidFill>
              </a:rPr>
              <a:t>Until now, every program had amnesia.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FILES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 files in one line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"poem.txt"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6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data/poem.txt on any 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writeString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"Akwaaba!\n"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6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REPLACES the file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"list.txt"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"rice"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"tomatoes"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readString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readAllLines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writeString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StandardOpenOption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StandardOpenOption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64008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Relative paths start at the working directory.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Every call can throw </a:t>
            </a:r>
            <a:r>
              <a:rPr lang="en-US" sz="155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IOException</a:t>
            </a:r>
            <a:r>
              <a:rPr lang="en-US" sz="1550" dirty="0">
                <a:solidFill>
                  <a:srgbClr val="1F2933"/>
                </a:solidFill>
              </a:rPr>
              <a:t>.</a:t>
            </a:r>
            <a:endParaRPr lang="en-US" sz="1550" dirty="0"/>
          </a:p>
        </p:txBody>
      </p:sp>
      <p:sp>
        <p:nvSpPr>
          <p:cNvPr id="11" name="Bullets"/>
          <p:cNvSpPr txBox="1"/>
          <p:nvPr/>
        </p:nvSpPr>
        <p:spPr>
          <a:xfrm>
            <a:off x="621792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APPEND adds instead of replacing.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453896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LINE BY LINE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try-with-resources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BufferedReader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newBufferedReader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PrintWriter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PrintWriter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newBufferedWriter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readLine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toUpperCase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IOException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5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"File problem: "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getMessage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500" dirty="0"/>
          </a:p>
        </p:txBody>
      </p:sp>
      <p:sp>
        <p:nvSpPr>
          <p:cNvPr id="10" name="Bullets"/>
          <p:cNvSpPr txBox="1"/>
          <p:nvPr/>
        </p:nvSpPr>
        <p:spPr>
          <a:xfrm>
            <a:off x="64008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Closed automatically, always.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Little memory, even for huge files.</a:t>
            </a:r>
            <a:endParaRPr lang="en-US" sz="1550" dirty="0"/>
          </a:p>
        </p:txBody>
      </p:sp>
      <p:sp>
        <p:nvSpPr>
          <p:cNvPr id="11" name="Bullets"/>
          <p:cNvSpPr txBox="1"/>
          <p:nvPr/>
        </p:nvSpPr>
        <p:spPr>
          <a:xfrm>
            <a:off x="621792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A Scanner can read files too.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CSV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rows into records</a:t>
            </a:r>
            <a:endParaRPr lang="en-US" sz="3200" dirty="0"/>
          </a:p>
        </p:txBody>
      </p:sp>
      <p:sp>
        <p:nvSpPr>
          <p:cNvPr id="5" name="Code window"/>
          <p:cNvSpPr/>
          <p:nvPr/>
        </p:nvSpPr>
        <p:spPr>
          <a:xfrm>
            <a:off x="548640" y="1783080"/>
            <a:ext cx="11094415" cy="3017520"/>
          </a:xfrm>
          <a:prstGeom prst="roundRect">
            <a:avLst>
              <a:gd name="adj" fmla="val 3636"/>
            </a:avLst>
          </a:prstGeom>
          <a:solidFill>
            <a:srgbClr val="17263A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1938528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8" name="Shape 6"/>
          <p:cNvSpPr/>
          <p:nvPr/>
        </p:nvSpPr>
        <p:spPr>
          <a:xfrm>
            <a:off x="1152144" y="1938528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9" name="Code"/>
          <p:cNvSpPr txBox="1"/>
          <p:nvPr/>
        </p:nvSpPr>
        <p:spPr>
          <a:xfrm>
            <a:off x="777240" y="2194560"/>
            <a:ext cx="1072865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200" dirty="0">
                <a:solidFill>
                  <a:srgbClr val="8F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skip the header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","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throw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IllegalArgumentException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"expected 4 fields, found "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2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2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2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parseDouble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2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F8A8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catch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IllegalArgumentException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dirty="0">
                <a:solidFill>
                  <a:srgbClr val="7FC4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 Skipping line "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F8B2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A8E6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getMessage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Bullets"/>
          <p:cNvSpPr txBox="1"/>
          <p:nvPr/>
        </p:nvSpPr>
        <p:spPr>
          <a:xfrm>
            <a:off x="64008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Catch errors </a:t>
            </a:r>
            <a:r>
              <a:rPr lang="en-US" sz="1550" b="1" dirty="0">
                <a:solidFill>
                  <a:srgbClr val="1F2933"/>
                </a:solidFill>
              </a:rPr>
              <a:t>per line</a:t>
            </a:r>
            <a:r>
              <a:rPr lang="en-US" sz="1550" dirty="0">
                <a:solidFill>
                  <a:srgbClr val="1F2933"/>
                </a:solidFill>
              </a:rPr>
              <a:t>.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1F2933"/>
                </a:solidFill>
              </a:rPr>
              <a:t>Say which line and why.</a:t>
            </a:r>
            <a:endParaRPr lang="en-US" sz="1550" dirty="0"/>
          </a:p>
        </p:txBody>
      </p:sp>
      <p:sp>
        <p:nvSpPr>
          <p:cNvPr id="11" name="Bullets"/>
          <p:cNvSpPr txBox="1"/>
          <p:nvPr/>
        </p:nvSpPr>
        <p:spPr>
          <a:xfrm>
            <a:off x="621792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toCsv()</a:t>
            </a:r>
            <a:r>
              <a:rPr lang="en-US" sz="1550" dirty="0">
                <a:solidFill>
                  <a:srgbClr val="1F2933"/>
                </a:solidFill>
              </a:rPr>
              <a:t> + </a:t>
            </a:r>
            <a:r>
              <a:rPr lang="en-US" sz="1550" dirty="0">
                <a:solidFill>
                  <a:srgbClr val="8A2B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fromCsv()</a:t>
            </a:r>
            <a:r>
              <a:rPr lang="en-US" sz="1550" dirty="0">
                <a:solidFill>
                  <a:srgbClr val="1F2933"/>
                </a:solidFill>
              </a:rPr>
              <a:t> = a round trip.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ALSO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Folders, settings, and JSON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710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Code / idea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 short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F9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Files.createDirectories(path)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Make every missing folder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folder.resolve("a.txt")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Folder + file name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Files.list</a:t>
                      </a: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, </a:t>
                      </a: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Files.delete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List a folder / delete for good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8A2B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Properties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key=value settings files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JSON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F2933"/>
                          </a:solidFill>
                        </a:rPr>
                        <a:t>Needs a library (Gson): Module 17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193292" cy="310896"/>
          </a:xfrm>
          <a:prstGeom prst="roundRect">
            <a:avLst>
              <a:gd name="adj" fmla="val 50000"/>
            </a:avLst>
          </a:prstGeom>
          <a:solidFill>
            <a:srgbClr val="F8982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1932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152536"/>
                </a:solidFill>
              </a:rPr>
              <a:t>WATCH OUT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beginner mistakes</a:t>
            </a:r>
            <a:endParaRPr lang="en-US" sz="3200" dirty="0"/>
          </a:p>
        </p:txBody>
      </p:sp>
      <p:sp>
        <p:nvSpPr>
          <p:cNvPr id="5" name="Mistake 1"/>
          <p:cNvSpPr/>
          <p:nvPr/>
        </p:nvSpPr>
        <p:spPr>
          <a:xfrm>
            <a:off x="548640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The wrong working directory.</a:t>
            </a:r>
            <a:endParaRPr lang="en-US" sz="1450" dirty="0"/>
          </a:p>
        </p:txBody>
      </p:sp>
      <p:sp>
        <p:nvSpPr>
          <p:cNvPr id="9" name="Mistake 2"/>
          <p:cNvSpPr/>
          <p:nvPr/>
        </p:nvSpPr>
        <p:spPr>
          <a:xfrm>
            <a:off x="6255868" y="182880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227380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84468" y="2273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78828" y="182880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Forgetting that writing replaces.</a:t>
            </a:r>
            <a:endParaRPr lang="en-US" sz="1450" dirty="0"/>
          </a:p>
        </p:txBody>
      </p:sp>
      <p:sp>
        <p:nvSpPr>
          <p:cNvPr id="13" name="Mistake 3"/>
          <p:cNvSpPr/>
          <p:nvPr/>
        </p:nvSpPr>
        <p:spPr>
          <a:xfrm>
            <a:off x="548640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Not closing readers and writers.</a:t>
            </a:r>
            <a:endParaRPr lang="en-US" sz="1450" dirty="0"/>
          </a:p>
        </p:txBody>
      </p:sp>
      <p:sp>
        <p:nvSpPr>
          <p:cNvPr id="17" name="Mistake 4"/>
          <p:cNvSpPr/>
          <p:nvPr/>
        </p:nvSpPr>
        <p:spPr>
          <a:xfrm>
            <a:off x="6255868" y="336804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4468" y="381304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84468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078828" y="336804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Typing slashes instead of </a:t>
            </a:r>
            <a:r>
              <a:rPr lang="en-US" sz="1450" dirty="0">
                <a:solidFill>
                  <a:srgbClr val="F898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Path.of(a, b)</a:t>
            </a:r>
            <a:r>
              <a:rPr lang="en-US" sz="1450" dirty="0">
                <a:solidFill>
                  <a:srgbClr val="FFFFFF"/>
                </a:solidFill>
              </a:rPr>
              <a:t>.</a:t>
            </a:r>
            <a:endParaRPr lang="en-US" sz="1450" dirty="0"/>
          </a:p>
        </p:txBody>
      </p:sp>
      <p:sp>
        <p:nvSpPr>
          <p:cNvPr id="21" name="Mistake 5"/>
          <p:cNvSpPr/>
          <p:nvPr/>
        </p:nvSpPr>
        <p:spPr>
          <a:xfrm>
            <a:off x="548640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Not skipping the CSV header.</a:t>
            </a:r>
            <a:endParaRPr lang="en-US" sz="1450" dirty="0"/>
          </a:p>
        </p:txBody>
      </p:sp>
      <p:sp>
        <p:nvSpPr>
          <p:cNvPr id="25" name="Mistake 6"/>
          <p:cNvSpPr/>
          <p:nvPr/>
        </p:nvSpPr>
        <p:spPr>
          <a:xfrm>
            <a:off x="6255868" y="4907280"/>
            <a:ext cx="5387188" cy="1310640"/>
          </a:xfrm>
          <a:prstGeom prst="roundRect">
            <a:avLst>
              <a:gd name="adj" fmla="val 5581"/>
            </a:avLst>
          </a:prstGeom>
          <a:solidFill>
            <a:srgbClr val="22384F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5352288"/>
            <a:ext cx="420624" cy="420624"/>
          </a:xfrm>
          <a:prstGeom prst="ellipse">
            <a:avLst/>
          </a:prstGeom>
          <a:solidFill>
            <a:srgbClr val="F8982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84468" y="5352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536"/>
                </a:solidFill>
              </a:rPr>
              <a:t>!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078828" y="4907280"/>
            <a:ext cx="4381348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One bad line crashing the whole load.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93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F6F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17145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</a:rPr>
              <a:t>TRY IT YOURSELF</a:t>
            </a:r>
            <a:endParaRPr lang="en-US" sz="10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8686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27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move 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28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Run every example from the examples folder.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432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Exercise 1: a notes app that remembers.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576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Exercise 2: process marks.csv into a report.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572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Build the project in your track.</a:t>
            </a:r>
            <a:endParaRPr lang="en-US" sz="1600" dirty="0"/>
          </a:p>
        </p:txBody>
      </p:sp>
      <p:sp>
        <p:nvSpPr>
          <p:cNvPr id="17" name="Project card"/>
          <p:cNvSpPr/>
          <p:nvPr/>
        </p:nvSpPr>
        <p:spPr>
          <a:xfrm>
            <a:off x="7589520" y="1828800"/>
            <a:ext cx="4053535" cy="4297680"/>
          </a:xfrm>
          <a:prstGeom prst="roundRect">
            <a:avLst>
              <a:gd name="adj" fmla="val 2707"/>
            </a:avLst>
          </a:prstGeom>
          <a:solidFill>
            <a:srgbClr val="15253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09560" y="210312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9820"/>
                </a:solidFill>
              </a:rPr>
              <a:t>MODULE PROJECT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468880"/>
            <a:ext cx="3413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Programs That Remember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3566160"/>
            <a:ext cx="3413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CE4EE"/>
                </a:solidFill>
              </a:rPr>
              <a:t>Track A: an expense tracker. Track B: a bench data logger analyser (energy by the trapezium rule). Track C: a patient vitals log with alerts.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557784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9820"/>
                </a:solidFill>
              </a:rPr>
              <a:t>Next: Module 15, Generics, Collections &amp; Lambdas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va Course">
  <a:themeElements>
    <a:clrScheme name="Java Course">
      <a:dk1>
        <a:srgbClr val="1F2933"/>
      </a:dk1>
      <a:lt1>
        <a:srgbClr val="FFFFFF"/>
      </a:lt1>
      <a:dk2>
        <a:srgbClr val="152536"/>
      </a:dk2>
      <a:lt2>
        <a:srgbClr val="F4F7FB"/>
      </a:lt2>
      <a:accent1>
        <a:srgbClr val="2F6F9F"/>
      </a:accent1>
      <a:accent2>
        <a:srgbClr val="F89820"/>
      </a:accent2>
      <a:accent3>
        <a:srgbClr val="5382A1"/>
      </a:accent3>
      <a:accent4>
        <a:srgbClr val="E8833A"/>
      </a:accent4>
      <a:accent5>
        <a:srgbClr val="3FA34D"/>
      </a:accent5>
      <a:accent6>
        <a:srgbClr val="C0392B"/>
      </a:accent6>
      <a:hlink>
        <a:srgbClr val="2F6F9F"/>
      </a:hlink>
      <a:folHlink>
        <a:srgbClr val="22384F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Introduction to Java Programming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14: Files &amp; Data</dc:title>
  <dc:subject>Lecture slides</dc:subject>
  <dc:creator>Introduction to Java Programming</dc:creator>
  <cp:lastModifiedBy>Introduction to Java Programming</cp:lastModifiedBy>
  <cp:revision>1</cp:revision>
  <dcterms:created xsi:type="dcterms:W3CDTF">2026-10-05T04:05:20Z</dcterms:created>
  <dcterms:modified xsi:type="dcterms:W3CDTF">2026-10-05T04:05:20Z</dcterms:modified>
</cp:coreProperties>
</file>