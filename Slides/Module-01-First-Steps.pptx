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" id="{4955d02e-4491-4938-184d-9e430cf616e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type it in. Keep any compiler errors on the projector for the error-reading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you write → javac → .class → java diagram. Contrast with C (machine code) and Python (no separate compile).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 that public, static, void and String[] args are all explained later (Modules 6, 8, 10). Show the main shortcut in VS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predictions before running, especially the 23 line. Module 2 explains it 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Ex05 and Ex06 live. Model calm: "good, an error, let's read it".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2 is a bug hunt with one of each of the first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Ex07DrawingSquare is the template: only draw() changes. Quick check: draw a triangle with three drawLines.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paper plan. One letter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  ·  FIRST STEPS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  ·  FIRST STEPS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Steps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Compiling and running Java, the shape of a program, printing, drawing in a window, and reading error messages.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spiral in a window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Ex00Spiral.java (the heart of it)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newX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toRadians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toRadians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colours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drawLine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newX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newX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Ex00Spiral.java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A rainbow spiral on a black window.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Change </a:t>
            </a: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r>
              <a:rPr lang="en-US" sz="1700" dirty="0">
                <a:solidFill>
                  <a:srgbClr val="1F2933"/>
                </a:solidFill>
              </a:rPr>
              <a:t> to </a:t>
            </a: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700" dirty="0">
                <a:solidFill>
                  <a:srgbClr val="1F2933"/>
                </a:solidFill>
              </a:rPr>
              <a:t>, </a:t>
            </a: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</a:t>
            </a:r>
            <a:r>
              <a:rPr lang="en-US" sz="1700" dirty="0">
                <a:solidFill>
                  <a:srgbClr val="1F2933"/>
                </a:solidFill>
              </a:rPr>
              <a:t>, </a:t>
            </a: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</a:t>
            </a:r>
            <a:r>
              <a:rPr lang="en-US" sz="1700" dirty="0">
                <a:solidFill>
                  <a:srgbClr val="1F2933"/>
                </a:solidFill>
              </a:rPr>
              <a:t>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One number changes everything: the computer follows instructions </a:t>
            </a:r>
            <a:r>
              <a:rPr lang="en-US" sz="1700" b="1" dirty="0">
                <a:solidFill>
                  <a:srgbClr val="1F2933"/>
                </a:solidFill>
              </a:rPr>
              <a:t>exactly</a:t>
            </a:r>
            <a:r>
              <a:rPr lang="en-US" sz="1700" dirty="0">
                <a:solidFill>
                  <a:srgbClr val="1F2933"/>
                </a:solidFill>
              </a:rPr>
              <a:t>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By the end of today you'll recognise the frame around this code and how its drawing 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steps: compile, then run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869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86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javac, the compiler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checks the whole file and translates it into bytecode (a .class file).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30937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061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37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java, the JVM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runs the bytecode, on any computer with a JVM: "write once, run anywhere".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312920"/>
            <a:ext cx="11094415" cy="108204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62534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625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12920"/>
            <a:ext cx="995141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java File.java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does both in one go, in memory: what VS Code's ▶ does.</a:t>
            </a:r>
            <a:endParaRPr lang="en-US" sz="1800" dirty="0"/>
          </a:p>
        </p:txBody>
      </p:sp>
      <p:sp>
        <p:nvSpPr>
          <p:cNvPr id="17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A compile-time error means nothing runs at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ANATOMY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every program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Ex01Hello.java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Ex01Hello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7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1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Everything lives in a </a:t>
            </a:r>
            <a:r>
              <a:rPr lang="en-US" sz="1650" b="1" dirty="0">
                <a:solidFill>
                  <a:srgbClr val="1F2933"/>
                </a:solidFill>
              </a:rPr>
              <a:t>class</a:t>
            </a:r>
            <a:r>
              <a:rPr lang="en-US" sz="1650" dirty="0">
                <a:solidFill>
                  <a:srgbClr val="1F2933"/>
                </a:solidFill>
              </a:rPr>
              <a:t>; the file is named after it.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650" dirty="0">
                <a:solidFill>
                  <a:srgbClr val="1F2933"/>
                </a:solidFill>
              </a:rPr>
              <a:t> is where the program starts.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Every statement ends with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Braces mark the start and end; indentation is for humans.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OUTPUT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println, print and +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am 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years old"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 + 3 = 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+ 3 = 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 + 3 = 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+ 3 = 23 (!)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"Loading"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"...done!"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Loading...done!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"She said \"hi\"\tthen left\n"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Quotes mean </a:t>
            </a:r>
            <a:r>
              <a:rPr lang="en-US" sz="1550" i="1" dirty="0">
                <a:solidFill>
                  <a:srgbClr val="1F2933"/>
                </a:solidFill>
              </a:rPr>
              <a:t>say this</a:t>
            </a:r>
            <a:r>
              <a:rPr lang="en-US" sz="1550" dirty="0">
                <a:solidFill>
                  <a:srgbClr val="1F2933"/>
                </a:solidFill>
              </a:rPr>
              <a:t>; no quotes mean </a:t>
            </a:r>
            <a:r>
              <a:rPr lang="en-US" sz="1550" i="1" dirty="0">
                <a:solidFill>
                  <a:srgbClr val="1F2933"/>
                </a:solidFill>
              </a:rPr>
              <a:t>work this out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50" dirty="0">
                <a:solidFill>
                  <a:srgbClr val="1F2933"/>
                </a:solidFill>
              </a:rPr>
              <a:t> with text joins, left to right.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Escapes: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r>
              <a:rPr lang="en-US" sz="1550" dirty="0">
                <a:solidFill>
                  <a:srgbClr val="1F2933"/>
                </a:solidFill>
              </a:rPr>
              <a:t>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r>
              <a:rPr lang="en-US" sz="1550" dirty="0">
                <a:solidFill>
                  <a:srgbClr val="1F2933"/>
                </a:solidFill>
              </a:rPr>
              <a:t>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r>
              <a:rPr lang="en-US" sz="1550" dirty="0">
                <a:solidFill>
                  <a:srgbClr val="1F2933"/>
                </a:solidFill>
              </a:rPr>
              <a:t>,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061972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0619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ERRORS ARE MESSAGES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error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Compile-time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Ex05.java:11: error: ';' expected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System.out.println("Line two")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^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986784"/>
            <a:ext cx="4724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File, line number, what was expected.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b="1" dirty="0">
                <a:solidFill>
                  <a:srgbClr val="1F2933"/>
                </a:solidFill>
              </a:rPr>
              <a:t>Nothing runs</a:t>
            </a:r>
            <a:r>
              <a:rPr lang="en-US" sz="1550" dirty="0">
                <a:solidFill>
                  <a:srgbClr val="1F2933"/>
                </a:solidFill>
              </a:rPr>
              <a:t>, not even line 1.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Runtime (exception)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in thread "main"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java.lang.ArithmeticException: / by zero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 Ex06.main(Ex06.java:12)</a:t>
            </a:r>
            <a:endParaRPr lang="en-US" sz="13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program starts, then crashes.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Lines before the crash </a:t>
            </a:r>
            <a:r>
              <a:rPr lang="en-US" sz="1550" b="1" dirty="0">
                <a:solidFill>
                  <a:srgbClr val="1F2933"/>
                </a:solidFill>
              </a:rPr>
              <a:t>did</a:t>
            </a:r>
            <a:r>
              <a:rPr lang="en-US" sz="1550" dirty="0">
                <a:solidFill>
                  <a:srgbClr val="1F2933"/>
                </a:solidFill>
              </a:rPr>
              <a:t> run.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Several compile errors at once? Fix the FIRST, then run again.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ERRORS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errors you'll meet this week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10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Message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Usually means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';' expected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missing semicolon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cannot find symbol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misspelt name (see the symbol: line)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package system does not exist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 instead of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unclosed string literal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missing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or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 at one 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X is public, should be declared in a file named X.java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The file and class names don't match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ArithmeticException: / by zero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Dividing a whole number by zero (at runtime)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DRAWING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in a window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39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Does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pen.drawLine(x1, y1, x2, y2)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straight line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pen.drawRect(x, y, w, h)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fillRect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 rectangle (outline / filled)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pen.drawOval(...)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fillOval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 /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drawArc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Ovals, circles and parts of them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pen.setColor(Color.RED)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The colour (or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 Color(r, g, b)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pen.setStroke(new BasicStroke(6))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The line thickness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pen.drawString("Hi", x, 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Text, in the font set by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setFont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(0, 0) is the TOP-LEFT corner, and y grows DOWNWARDS.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Capital letters: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50" dirty="0">
                <a:solidFill>
                  <a:srgbClr val="FFFFFF"/>
                </a:solidFill>
              </a:rPr>
              <a:t>,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50" dirty="0">
                <a:solidFill>
                  <a:srgbClr val="FFFFFF"/>
                </a:solidFill>
              </a:rPr>
              <a:t> and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FFFFFF"/>
                </a:solidFill>
              </a:rPr>
              <a:t> must be spelt exactly.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missing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50" dirty="0">
                <a:solidFill>
                  <a:srgbClr val="FFFFFF"/>
                </a:solidFill>
              </a:rPr>
              <a:t> at the end of a statement.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File name ≠ class name.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Single quotes round text: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r>
              <a:rPr lang="en-US" sz="1450" dirty="0">
                <a:solidFill>
                  <a:srgbClr val="FFFFFF"/>
                </a:solidFill>
              </a:rPr>
              <a:t> is an error.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"Total: " + 2 + 3</a:t>
            </a:r>
            <a:r>
              <a:rPr lang="en-US" sz="1450" dirty="0">
                <a:solidFill>
                  <a:srgbClr val="FFFFFF"/>
                </a:solidFill>
              </a:rPr>
              <a:t> prints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23</a:t>
            </a:r>
            <a:r>
              <a:rPr lang="en-US" sz="1450" dirty="0">
                <a:solidFill>
                  <a:srgbClr val="FFFFFF"/>
                </a:solidFill>
              </a:rPr>
              <a:t>. Add brackets.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Running an old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</a:t>
            </a:r>
            <a:r>
              <a:rPr lang="en-US" sz="1450" dirty="0">
                <a:solidFill>
                  <a:srgbClr val="FFFFFF"/>
                </a:solidFill>
              </a:rPr>
              <a:t> after editing. Recompile, or use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File.java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example, including the two broken ones.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print your own business card.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bug hunt (fix the first error, rerun).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project, then commit and push.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Initials in Java Art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At least two letters, two colours, a thick pen, and your name written underneath with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drawString</a:t>
            </a:r>
            <a:r>
              <a:rPr lang="en-US" sz="1450" dirty="0">
                <a:solidFill>
                  <a:srgbClr val="DCE4EE"/>
                </a:solidFill>
              </a:rPr>
              <a:t>. Plan it on squared paper: remember y grows downwards.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2, Values, Types &amp; Operators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First Steps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2026-10-05T04:01:21Z</dcterms:created>
  <dcterms:modified xsi:type="dcterms:W3CDTF">2026-10-05T04:01:21Z</dcterms:modified>
</cp:coreProperties>
</file>