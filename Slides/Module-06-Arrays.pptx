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 6" id="{57f7571d-2f97-4eca-d948-9132cede733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design their own picture by the end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length for arrays, length() for Strings: say it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out-of-bounds message aloud: Index 4 out of bounds for length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Ex04 and Ex05.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box-and-arrow picture. This is the same idea as == on Strings.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Re-read the hook: grid[row][col] picks a colour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Ex11 with java Ex11CommandLineArgs.java Ama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It's meant to feel long. Module 8 restructures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7A8"/>
                </a:solidFill>
              </a:rPr>
              <a:t>MODULE 6  ·  ARRAYS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525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F93AD"/>
                </a:solidFill>
              </a:rPr>
              <a:t>MODULE 6  ·  ARRAYS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g number"/>
          <p:cNvSpPr txBox="1"/>
          <p:nvPr/>
        </p:nvSpPr>
        <p:spPr>
          <a:xfrm>
            <a:off x="6583680" y="822960"/>
            <a:ext cx="53035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566928" cy="566928"/>
          </a:xfrm>
          <a:prstGeom prst="ellipse">
            <a:avLst/>
          </a:prstGeom>
          <a:solidFill>
            <a:srgbClr val="22384F"/>
          </a:solidFill>
          <a:ln w="19050">
            <a:solidFill>
              <a:srgbClr val="F898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0515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05156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8C7D9"/>
                </a:solidFill>
              </a:rPr>
              <a:t>INTRODUCTION TO JAVA PROGRAMMING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4884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2536"/>
                </a:solidFill>
              </a:rPr>
              <a:t>MODULE 6</a:t>
            </a:r>
            <a:endParaRPr lang="en-US" sz="1100" dirty="0"/>
          </a:p>
        </p:txBody>
      </p:sp>
      <p:sp>
        <p:nvSpPr>
          <p:cNvPr id="8" name="Title"/>
          <p:cNvSpPr txBox="1"/>
          <p:nvPr/>
        </p:nvSpPr>
        <p:spPr>
          <a:xfrm>
            <a:off x="548640" y="26060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4600" dirty="0"/>
          </a:p>
        </p:txBody>
      </p:sp>
      <p:sp>
        <p:nvSpPr>
          <p:cNvPr id="9" name="Subtitle"/>
          <p:cNvSpPr txBox="1"/>
          <p:nvPr/>
        </p:nvSpPr>
        <p:spPr>
          <a:xfrm>
            <a:off x="548640" y="4251960"/>
            <a:ext cx="630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8C7D9"/>
                </a:solidFill>
              </a:rPr>
              <a:t>Many values under one name: indexes, loops, the Arrays class, references, split, 2D grids, and String[] args.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HOOK: RUN THIS FIRST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picture made of numbers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858000" cy="3886200"/>
          </a:xfrm>
          <a:prstGeom prst="roundRect">
            <a:avLst>
              <a:gd name="adj" fmla="val 2824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463040" y="185623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Ex00PixelArt.java</a:t>
            </a:r>
            <a:endParaRPr lang="en-US" sz="1000" dirty="0"/>
          </a:p>
        </p:txBody>
      </p:sp>
      <p:sp>
        <p:nvSpPr>
          <p:cNvPr id="10" name="Code"/>
          <p:cNvSpPr txBox="1"/>
          <p:nvPr/>
        </p:nvSpPr>
        <p:spPr>
          <a:xfrm>
            <a:off x="777240" y="2194560"/>
            <a:ext cx="64922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858000" cy="457200"/>
          </a:xfrm>
          <a:prstGeom prst="roundRect">
            <a:avLst>
              <a:gd name="adj" fmla="val 16000"/>
            </a:avLst>
          </a:prstGeom>
          <a:solidFill>
            <a:srgbClr val="1726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580644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Ex00PixelArt.java</a:t>
            </a:r>
            <a:endParaRPr lang="en-US" sz="1300" dirty="0"/>
          </a:p>
        </p:txBody>
      </p:sp>
      <p:sp>
        <p:nvSpPr>
          <p:cNvPr id="13" name="Bullets"/>
          <p:cNvSpPr txBox="1"/>
          <p:nvPr/>
        </p:nvSpPr>
        <p:spPr>
          <a:xfrm>
            <a:off x="7818120" y="18288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A space invader, in a window and in </a:t>
            </a:r>
            <a:r>
              <a:rPr lang="en-US" sz="170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1700" dirty="0">
                <a:solidFill>
                  <a:srgbClr val="1F2933"/>
                </a:solidFill>
              </a:rPr>
              <a:t>s.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0 black, 1 green, 2 white.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700" dirty="0">
                <a:solidFill>
                  <a:srgbClr val="1F2933"/>
                </a:solidFill>
              </a:rPr>
              <a:t>Change the numbers, change the picture.</a:t>
            </a:r>
            <a:endParaRPr lang="en-US" sz="1700" dirty="0"/>
          </a:p>
        </p:txBody>
      </p:sp>
      <p:sp>
        <p:nvSpPr>
          <p:cNvPr id="14" name="Callout"/>
          <p:cNvSpPr/>
          <p:nvPr/>
        </p:nvSpPr>
        <p:spPr>
          <a:xfrm>
            <a:off x="7818120" y="4709160"/>
            <a:ext cx="3840480" cy="1463040"/>
          </a:xfrm>
          <a:prstGeom prst="roundRect">
            <a:avLst>
              <a:gd name="adj" fmla="val 6250"/>
            </a:avLst>
          </a:prstGeom>
          <a:solidFill>
            <a:srgbClr val="FEEBD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46720" y="470916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52536"/>
                </a:solidFill>
              </a:rPr>
              <a:t>Every photo is a grid of numbers. One name, many values: an array.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06424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064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CREATING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make an array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58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"Tue"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"Wed"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40 zeros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nulls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5: no brackets!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"[72, 85, 64, 90, 58]"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One type for every value.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size is </a:t>
            </a:r>
            <a:r>
              <a:rPr lang="en-US" sz="1550" b="1" dirty="0">
                <a:solidFill>
                  <a:srgbClr val="1F2933"/>
                </a:solidFill>
              </a:rPr>
              <a:t>fixed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Defaults: 0, false, null.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println(marks)</a:t>
            </a:r>
            <a:r>
              <a:rPr lang="en-US" sz="1550" dirty="0">
                <a:solidFill>
                  <a:srgbClr val="1F2933"/>
                </a:solidFill>
              </a:rPr>
              <a:t> shows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[I@...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888236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8882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INDEXES AND LOOPS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Reading, changing, visiting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11094415" cy="3017520"/>
          </a:xfrm>
          <a:prstGeom prst="roundRect">
            <a:avLst>
              <a:gd name="adj" fmla="val 363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10728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first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last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"MARS"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change one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planets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ArrayIndexOutOfBoundsException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8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fruits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fruit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8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8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for-each</a:t>
            </a:r>
            <a:endParaRPr lang="en-US" sz="1800" dirty="0"/>
          </a:p>
        </p:txBody>
      </p:sp>
      <p:sp>
        <p:nvSpPr>
          <p:cNvPr id="10" name="Bullets"/>
          <p:cNvSpPr txBox="1"/>
          <p:nvPr/>
        </p:nvSpPr>
        <p:spPr>
          <a:xfrm>
            <a:off x="64008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Indexes start at 0.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for-each: just the values.</a:t>
            </a:r>
            <a:endParaRPr lang="en-US" sz="1550" dirty="0"/>
          </a:p>
        </p:txBody>
      </p:sp>
      <p:sp>
        <p:nvSpPr>
          <p:cNvPr id="11" name="Bullets"/>
          <p:cNvSpPr txBox="1"/>
          <p:nvPr/>
        </p:nvSpPr>
        <p:spPr>
          <a:xfrm>
            <a:off x="621792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Index loop: positions, or changing values.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ALGORITHMS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Patterns you'll write again and again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total, then average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hottest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max AND where it 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hottest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hottest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</a:t>
            </a:r>
            <a:r>
              <a:rPr lang="en-US" sz="11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linear search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days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"Fri"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Track the </a:t>
            </a:r>
            <a:r>
              <a:rPr lang="en-US" sz="1650" b="1" dirty="0">
                <a:solidFill>
                  <a:srgbClr val="1F2933"/>
                </a:solidFill>
              </a:rPr>
              <a:t>index</a:t>
            </a:r>
            <a:r>
              <a:rPr lang="en-US" sz="1650" dirty="0">
                <a:solidFill>
                  <a:srgbClr val="1F2933"/>
                </a:solidFill>
              </a:rPr>
              <a:t> of the max.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-1 means not found.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Arrays.sort</a:t>
            </a:r>
            <a:r>
              <a:rPr lang="en-US" sz="1650" dirty="0">
                <a:solidFill>
                  <a:srgbClr val="1F2933"/>
                </a:solidFill>
              </a:rPr>
              <a:t>,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copyOf</a:t>
            </a:r>
            <a:r>
              <a:rPr lang="en-US" sz="1650" dirty="0">
                <a:solidFill>
                  <a:srgbClr val="1F2933"/>
                </a:solidFill>
              </a:rPr>
              <a:t>,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</a:t>
            </a:r>
            <a:r>
              <a:rPr lang="en-US" sz="1650" dirty="0">
                <a:solidFill>
                  <a:srgbClr val="1F2933"/>
                </a:solidFill>
              </a:rPr>
              <a:t>, </a:t>
            </a:r>
            <a:r>
              <a:rPr lang="en-US" sz="16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equals</a:t>
            </a:r>
            <a:r>
              <a:rPr lang="en-US" sz="1650" dirty="0">
                <a:solidFill>
                  <a:srgbClr val="1F2933"/>
                </a:solidFill>
              </a:rPr>
              <a:t> do the rest.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REFERENCES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aliasing gotcha</a:t>
            </a:r>
            <a:endParaRPr lang="en-US" sz="3200" dirty="0"/>
          </a:p>
        </p:txBody>
      </p:sp>
      <p:sp>
        <p:nvSpPr>
          <p:cNvPr id="5" name="Card 1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b = a is NOT a copy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22960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alias = original;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alias[0] = 99;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original is now [99, 2, 3]</a:t>
            </a:r>
            <a:endParaRPr lang="en-US" sz="1500" dirty="0"/>
          </a:p>
        </p:txBody>
      </p:sp>
      <p:sp>
        <p:nvSpPr>
          <p:cNvPr id="11" name="Bullets"/>
          <p:cNvSpPr txBox="1"/>
          <p:nvPr/>
        </p:nvSpPr>
        <p:spPr>
          <a:xfrm>
            <a:off x="868680" y="3986784"/>
            <a:ext cx="4724248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The variable holds a reference.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Two names, one array.</a:t>
            </a:r>
            <a:endParaRPr lang="en-US" sz="1550" dirty="0"/>
          </a:p>
        </p:txBody>
      </p:sp>
      <p:sp>
        <p:nvSpPr>
          <p:cNvPr id="12" name="Card 2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9525">
            <a:solidFill>
              <a:srgbClr val="D5DD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53048" y="2057400"/>
            <a:ext cx="502920" cy="502920"/>
          </a:xfrm>
          <a:prstGeom prst="ellipse">
            <a:avLst/>
          </a:prstGeom>
          <a:solidFill>
            <a:srgbClr val="15253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5304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89820"/>
                </a:solidFill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7193128" y="2057400"/>
            <a:ext cx="42670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73E"/>
                </a:solidFill>
              </a:rPr>
              <a:t>A real copy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553048" y="2743200"/>
            <a:ext cx="4815688" cy="1014984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690208" y="2743200"/>
            <a:ext cx="4632808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int[] copy = Arrays.copyOf(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original, original.length);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Arrays.equals(a, b)</a:t>
            </a:r>
            <a:endParaRPr lang="en-US" sz="1500" dirty="0"/>
          </a:p>
        </p:txBody>
      </p:sp>
      <p:sp>
        <p:nvSpPr>
          <p:cNvPr id="18" name="Bullets"/>
          <p:cNvSpPr txBox="1"/>
          <p:nvPr/>
        </p:nvSpPr>
        <p:spPr>
          <a:xfrm>
            <a:off x="6598768" y="3986784"/>
            <a:ext cx="4724248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Copy with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Arrays.copyOf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50" dirty="0">
                <a:solidFill>
                  <a:srgbClr val="1F2933"/>
                </a:solidFill>
              </a:rPr>
              <a:t>Compare values with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Arrays.equals</a:t>
            </a:r>
            <a:r>
              <a:rPr lang="en-US" sz="1550" dirty="0">
                <a:solidFill>
                  <a:srgbClr val="1F2933"/>
                </a:solidFill>
              </a:rPr>
              <a:t>, not </a:t>
            </a:r>
            <a:r>
              <a:rPr lang="en-US" sz="1550" dirty="0">
                <a:solidFill>
                  <a:srgbClr val="8A2B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</a:t>
            </a:r>
            <a:r>
              <a:rPr lang="en-US" sz="1550" dirty="0">
                <a:solidFill>
                  <a:srgbClr val="1F2933"/>
                </a:solidFill>
              </a:rPr>
              <a:t>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GRIDS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2D arrays</a:t>
            </a:r>
            <a:endParaRPr lang="en-US" sz="3200" dirty="0"/>
          </a:p>
        </p:txBody>
      </p:sp>
      <p:sp>
        <p:nvSpPr>
          <p:cNvPr id="5" name="Code window"/>
          <p:cNvSpPr/>
          <p:nvPr/>
        </p:nvSpPr>
        <p:spPr>
          <a:xfrm>
            <a:off x="548640" y="1783080"/>
            <a:ext cx="6675120" cy="4343400"/>
          </a:xfrm>
          <a:prstGeom prst="roundRect">
            <a:avLst>
              <a:gd name="adj" fmla="val 2526"/>
            </a:avLst>
          </a:prstGeom>
          <a:solidFill>
            <a:srgbClr val="17263A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938528"/>
            <a:ext cx="109728" cy="109728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" y="1938528"/>
            <a:ext cx="109728" cy="109728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938528"/>
            <a:ext cx="109728" cy="109728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Code"/>
          <p:cNvSpPr txBox="1"/>
          <p:nvPr/>
        </p:nvSpPr>
        <p:spPr>
          <a:xfrm>
            <a:off x="777240" y="2194560"/>
            <a:ext cx="630936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</a:t>
            </a: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rows of 5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'X'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</a:t>
            </a: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[row][col]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</a:t>
            </a: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rows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</a:t>
            </a:r>
            <a:r>
              <a:rPr lang="en-US" sz="1400" dirty="0">
                <a:solidFill>
                  <a:srgbClr val="8FA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columns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8A8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B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4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seats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A8E6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"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7FC4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0" name="Bullets"/>
          <p:cNvSpPr txBox="1"/>
          <p:nvPr/>
        </p:nvSpPr>
        <p:spPr>
          <a:xfrm>
            <a:off x="7589520" y="1828800"/>
            <a:ext cx="406908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An array of rows.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Always row first.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650" dirty="0">
                <a:solidFill>
                  <a:srgbClr val="1F2933"/>
                </a:solidFill>
              </a:rPr>
              <a:t>Nested loops visit every cell.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28016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ALSO TODAY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Text and command lines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5852160"/>
                <a:gridCol w="5239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</a:rPr>
                        <a:t>Gives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6F9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"Kofi,19,Kumasi".split(",")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[Kofi, 19, Kumasi]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"too   many".split(" +")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[too, many]</a:t>
                      </a: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: one or more spaces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String.join(" - ", words)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the words joined with </a:t>
                      </a: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- 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"Java".toCharArray()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[J, a, v, a]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8A2B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String[] args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933"/>
                          </a:solidFill>
                        </a:rPr>
                        <a:t>the words typed after the program's name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193292" cy="310896"/>
          </a:xfrm>
          <a:prstGeom prst="roundRect">
            <a:avLst>
              <a:gd name="adj" fmla="val 50000"/>
            </a:avLst>
          </a:prstGeom>
          <a:solidFill>
            <a:srgbClr val="F8982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932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152536"/>
                </a:solidFill>
              </a:rPr>
              <a:t>WATCH OUT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200" dirty="0"/>
          </a:p>
        </p:txBody>
      </p:sp>
      <p:sp>
        <p:nvSpPr>
          <p:cNvPr id="5" name="Mistake 1"/>
          <p:cNvSpPr/>
          <p:nvPr/>
        </p:nvSpPr>
        <p:spPr>
          <a:xfrm>
            <a:off x="548640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&lt;= a.length</a:t>
            </a:r>
            <a:r>
              <a:rPr lang="en-US" sz="1450" dirty="0">
                <a:solidFill>
                  <a:srgbClr val="FFFFFF"/>
                </a:solidFill>
              </a:rPr>
              <a:t> goes one past the end.</a:t>
            </a:r>
            <a:endParaRPr lang="en-US" sz="1450" dirty="0"/>
          </a:p>
        </p:txBody>
      </p:sp>
      <p:sp>
        <p:nvSpPr>
          <p:cNvPr id="9" name="Mistake 2"/>
          <p:cNvSpPr/>
          <p:nvPr/>
        </p:nvSpPr>
        <p:spPr>
          <a:xfrm>
            <a:off x="6255868" y="182880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84468" y="227380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84468" y="2273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78828" y="182880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r>
              <a:rPr lang="en-US" sz="1450" dirty="0">
                <a:solidFill>
                  <a:srgbClr val="FFFFFF"/>
                </a:solidFill>
              </a:rPr>
              <a:t> vs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length()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3" name="Mistake 3"/>
          <p:cNvSpPr/>
          <p:nvPr/>
        </p:nvSpPr>
        <p:spPr>
          <a:xfrm>
            <a:off x="548640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Printing an array with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450" dirty="0">
                <a:solidFill>
                  <a:srgbClr val="FFFFFF"/>
                </a:solidFill>
              </a:rPr>
              <a:t>.</a:t>
            </a:r>
            <a:endParaRPr lang="en-US" sz="1450" dirty="0"/>
          </a:p>
        </p:txBody>
      </p:sp>
      <p:sp>
        <p:nvSpPr>
          <p:cNvPr id="17" name="Mistake 4"/>
          <p:cNvSpPr/>
          <p:nvPr/>
        </p:nvSpPr>
        <p:spPr>
          <a:xfrm>
            <a:off x="6255868" y="336804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84468" y="381304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84468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78828" y="336804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Thinking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a</a:t>
            </a:r>
            <a:r>
              <a:rPr lang="en-US" sz="1450" dirty="0">
                <a:solidFill>
                  <a:srgbClr val="FFFFFF"/>
                </a:solidFill>
              </a:rPr>
              <a:t> copies.</a:t>
            </a:r>
            <a:endParaRPr lang="en-US" sz="1450" dirty="0"/>
          </a:p>
        </p:txBody>
      </p:sp>
      <p:sp>
        <p:nvSpPr>
          <p:cNvPr id="21" name="Mistake 5"/>
          <p:cNvSpPr/>
          <p:nvPr/>
        </p:nvSpPr>
        <p:spPr>
          <a:xfrm>
            <a:off x="548640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Using a slot of </a:t>
            </a:r>
            <a:r>
              <a:rPr lang="en-US" sz="1450" dirty="0">
                <a:solidFill>
                  <a:srgbClr val="F898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String[n]</a:t>
            </a:r>
            <a:r>
              <a:rPr lang="en-US" sz="1450" dirty="0">
                <a:solidFill>
                  <a:srgbClr val="FFFFFF"/>
                </a:solidFill>
              </a:rPr>
              <a:t> before filling it: null.</a:t>
            </a:r>
            <a:endParaRPr lang="en-US" sz="1450" dirty="0"/>
          </a:p>
        </p:txBody>
      </p:sp>
      <p:sp>
        <p:nvSpPr>
          <p:cNvPr id="25" name="Mistake 6"/>
          <p:cNvSpPr/>
          <p:nvPr/>
        </p:nvSpPr>
        <p:spPr>
          <a:xfrm>
            <a:off x="6255868" y="4907280"/>
            <a:ext cx="5387188" cy="1310640"/>
          </a:xfrm>
          <a:prstGeom prst="roundRect">
            <a:avLst>
              <a:gd name="adj" fmla="val 5581"/>
            </a:avLst>
          </a:prstGeom>
          <a:solidFill>
            <a:srgbClr val="2238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4468" y="5352288"/>
            <a:ext cx="420624" cy="420624"/>
          </a:xfrm>
          <a:prstGeom prst="ellipse">
            <a:avLst/>
          </a:prstGeom>
          <a:solidFill>
            <a:srgbClr val="F8982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84468" y="5352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536"/>
                </a:solidFill>
              </a:rPr>
              <a:t>!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78828" y="4907280"/>
            <a:ext cx="4381348" cy="131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</a:rPr>
              <a:t>Mixing up rows and columns.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F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/>
          <p:nvPr/>
        </p:nvSpPr>
        <p:spPr>
          <a:xfrm>
            <a:off x="548640" y="411480"/>
            <a:ext cx="1714500" cy="310896"/>
          </a:xfrm>
          <a:prstGeom prst="roundRect">
            <a:avLst>
              <a:gd name="adj" fmla="val 50000"/>
            </a:avLst>
          </a:prstGeom>
          <a:solidFill>
            <a:srgbClr val="2F6F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145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FFFFFF"/>
                </a:solidFill>
              </a:rPr>
              <a:t>TRY IT YOURSELF</a:t>
            </a:r>
            <a:endParaRPr lang="en-US" sz="1050" dirty="0"/>
          </a:p>
        </p:txBody>
      </p:sp>
      <p:sp>
        <p:nvSpPr>
          <p:cNvPr id="4" name="Text 1"/>
          <p:cNvSpPr/>
          <p:nvPr>
            <p:ph idx="101" type="title" hasCustomPrompt="1"/>
          </p:nvPr>
        </p:nvSpPr>
        <p:spPr>
          <a:xfrm>
            <a:off x="548640" y="8686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27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288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Run every example; design your own pixel art.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432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1: a class results report with a median.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6576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Exercise 2: cinema seat booking with a 2D array.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rgbClr val="2F6F9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57200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3"/>
                </a:solidFill>
              </a:rPr>
              <a:t>Build the project, then commit and push.</a:t>
            </a:r>
            <a:endParaRPr lang="en-US" sz="1600" dirty="0"/>
          </a:p>
        </p:txBody>
      </p:sp>
      <p:sp>
        <p:nvSpPr>
          <p:cNvPr id="17" name="Project card"/>
          <p:cNvSpPr/>
          <p:nvPr/>
        </p:nvSpPr>
        <p:spPr>
          <a:xfrm>
            <a:off x="7589520" y="1828800"/>
            <a:ext cx="4053535" cy="4297680"/>
          </a:xfrm>
          <a:prstGeom prst="roundRect">
            <a:avLst>
              <a:gd name="adj" fmla="val 2707"/>
            </a:avLst>
          </a:prstGeom>
          <a:solidFill>
            <a:srgbClr val="15253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09560" y="2103120"/>
            <a:ext cx="3413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9820"/>
                </a:solidFill>
              </a:rPr>
              <a:t>MODULE PROJECT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246888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Tic-Tac-Toe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909560" y="3566160"/>
            <a:ext cx="341345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DCE4EE"/>
                </a:solidFill>
              </a:rPr>
              <a:t>A 3x3 char grid, squares 1-9 turned into rows and columns with / and %, invalid moves refused, all eight wins checked with loops, and a running score.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909560" y="5577840"/>
            <a:ext cx="3413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89820"/>
                </a:solidFill>
              </a:rPr>
              <a:t>Next: Module 7, ArrayList, HashMap &amp; HashSet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7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ava Course">
  <a:themeElements>
    <a:clrScheme name="Java Course">
      <a:dk1>
        <a:srgbClr val="1F2933"/>
      </a:dk1>
      <a:lt1>
        <a:srgbClr val="FFFFFF"/>
      </a:lt1>
      <a:dk2>
        <a:srgbClr val="152536"/>
      </a:dk2>
      <a:lt2>
        <a:srgbClr val="F4F7FB"/>
      </a:lt2>
      <a:accent1>
        <a:srgbClr val="2F6F9F"/>
      </a:accent1>
      <a:accent2>
        <a:srgbClr val="F89820"/>
      </a:accent2>
      <a:accent3>
        <a:srgbClr val="5382A1"/>
      </a:accent3>
      <a:accent4>
        <a:srgbClr val="E8833A"/>
      </a:accent4>
      <a:accent5>
        <a:srgbClr val="3FA34D"/>
      </a:accent5>
      <a:accent6>
        <a:srgbClr val="C0392B"/>
      </a:accent6>
      <a:hlink>
        <a:srgbClr val="2F6F9F"/>
      </a:hlink>
      <a:folHlink>
        <a:srgbClr val="22384F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Introduction to Java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Arrays</dc:title>
  <dc:subject>Lecture slides</dc:subject>
  <dc:creator>Introduction to Java Programming</dc:creator>
  <cp:lastModifiedBy>Introduction to Java Programming</cp:lastModifiedBy>
  <cp:revision>1</cp:revision>
  <dcterms:created xsi:type="dcterms:W3CDTF">2026-10-05T04:03:28Z</dcterms:created>
  <dcterms:modified xsi:type="dcterms:W3CDTF">2026-10-05T04:03:28Z</dcterms:modified>
</cp:coreProperties>
</file>