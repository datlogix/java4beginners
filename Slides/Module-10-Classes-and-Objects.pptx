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10" id="{756bbbf8-40f4-9b9c-77cb-11a901c2ae1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play for a few minutes before any theory.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Ex02 and Ex03. this(...) calls another constructor.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Ex05. Show try/catch turning the exception into a message: Module 13 explains it 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Ex04, Ex06, Ex07.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Ex08, Ex09, and Ex10: the text adventure with a Room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VS Code's ▶ on BankApp does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Smallest class first; test it before writing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MODULE 10  ·  CLASSES &amp; OBJECTS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MODULE 10  ·  CLASSES &amp; OBJECTS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MODULE 10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 &amp; Objects</a:t>
            </a:r>
            <a:endParaRPr lang="en-US" sz="46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Designing your own types: fields, constructors, methods, toString, encapsulation, static members, and references.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HOOK: RUN THIS FIRST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 a virtual pet (or two)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858000" cy="3886200"/>
          </a:xfrm>
          <a:prstGeom prst="roundRect">
            <a:avLst>
              <a:gd name="adj" fmla="val 2824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Ex00VirtualPet.java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492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hunger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happiness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hunger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hunger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munches happily. Yum!"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Ex00VirtualPet.java</a:t>
            </a:r>
            <a:endParaRPr lang="en-US" sz="1300" dirty="0"/>
          </a:p>
        </p:txBody>
      </p:sp>
      <p:sp>
        <p:nvSpPr>
          <p:cNvPr id="13" name="Bullets"/>
          <p:cNvSpPr txBox="1"/>
          <p:nvPr/>
        </p:nvSpPr>
        <p:spPr>
          <a:xfrm>
            <a:off x="78181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Two pets, each with its </a:t>
            </a:r>
            <a:r>
              <a:rPr lang="en-US" sz="1700" b="1" dirty="0">
                <a:solidFill>
                  <a:srgbClr val="1F2933"/>
                </a:solidFill>
              </a:rPr>
              <a:t>own</a:t>
            </a:r>
            <a:r>
              <a:rPr lang="en-US" sz="1700" dirty="0">
                <a:solidFill>
                  <a:srgbClr val="1F2933"/>
                </a:solidFill>
              </a:rPr>
              <a:t> hunger and happiness.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Look after one, and the other sulks.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Pet</a:t>
            </a:r>
            <a:r>
              <a:rPr lang="en-US" sz="1700" dirty="0">
                <a:solidFill>
                  <a:srgbClr val="1F2933"/>
                </a:solidFill>
              </a:rPr>
              <a:t> is a brand-new type.</a:t>
            </a:r>
            <a:endParaRPr lang="en-US" sz="1700" dirty="0"/>
          </a:p>
        </p:txBody>
      </p:sp>
      <p:sp>
        <p:nvSpPr>
          <p:cNvPr id="14" name="Callout"/>
          <p:cNvSpPr/>
          <p:nvPr/>
        </p:nvSpPr>
        <p:spPr>
          <a:xfrm>
            <a:off x="7818120" y="4709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Java is object-oriented: designing classes like this is most of the job.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THE BIG IDEA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and object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1783080"/>
            <a:ext cx="5364328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C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A class: the blueprint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4815688" cy="126187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46328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age;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1" name="Bullets"/>
          <p:cNvSpPr txBox="1"/>
          <p:nvPr/>
        </p:nvSpPr>
        <p:spPr>
          <a:xfrm>
            <a:off x="868680" y="4233672"/>
            <a:ext cx="47242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Says what every Dog </a:t>
            </a:r>
            <a:r>
              <a:rPr lang="en-US" sz="1550" b="1" dirty="0">
                <a:solidFill>
                  <a:srgbClr val="1F2933"/>
                </a:solidFill>
              </a:rPr>
              <a:t>knows</a:t>
            </a:r>
            <a:r>
              <a:rPr lang="en-US" sz="1550" dirty="0">
                <a:solidFill>
                  <a:srgbClr val="1F2933"/>
                </a:solidFill>
              </a:rPr>
              <a:t> (fields)…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…and </a:t>
            </a:r>
            <a:r>
              <a:rPr lang="en-US" sz="1550" b="1" dirty="0">
                <a:solidFill>
                  <a:srgbClr val="1F2933"/>
                </a:solidFill>
              </a:rPr>
              <a:t>can do</a:t>
            </a:r>
            <a:r>
              <a:rPr lang="en-US" sz="1550" dirty="0">
                <a:solidFill>
                  <a:srgbClr val="1F2933"/>
                </a:solidFill>
              </a:rPr>
              <a:t> (methods).</a:t>
            </a:r>
            <a:endParaRPr lang="en-US" sz="1550" dirty="0"/>
          </a:p>
        </p:txBody>
      </p:sp>
      <p:sp>
        <p:nvSpPr>
          <p:cNvPr id="12" name="Card 2"/>
          <p:cNvSpPr/>
          <p:nvPr/>
        </p:nvSpPr>
        <p:spPr>
          <a:xfrm>
            <a:off x="6278728" y="1783080"/>
            <a:ext cx="5364328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53048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5304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93128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An object: one real thing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53048" y="2743200"/>
            <a:ext cx="4815688" cy="10149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0208" y="2743200"/>
            <a:ext cx="4632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 rex = new Dog();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rex.name = "Rex";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 bingo = new Dog();</a:t>
            </a:r>
            <a:endParaRPr lang="en-US" sz="1500" dirty="0"/>
          </a:p>
        </p:txBody>
      </p:sp>
      <p:sp>
        <p:nvSpPr>
          <p:cNvPr id="18" name="Bullets"/>
          <p:cNvSpPr txBox="1"/>
          <p:nvPr/>
        </p:nvSpPr>
        <p:spPr>
          <a:xfrm>
            <a:off x="6598768" y="3986784"/>
            <a:ext cx="472424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550" dirty="0">
                <a:solidFill>
                  <a:srgbClr val="1F2933"/>
                </a:solidFill>
              </a:rPr>
              <a:t> builds one from the blueprint.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Each has its own copy of every field.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23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3"/>
                </a:solidFill>
              </a:rPr>
              <a:t>Classes are CapitalisedWords; objects and variables are camelCase.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496312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CONSTRUCTORS AND METHODS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up, and behaviour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1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constructor: class name, no return type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1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this.label is the FIELD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 INSTANCE method: this counter's 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isOver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"Cars"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A constructor runs on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550" dirty="0">
                <a:solidFill>
                  <a:srgbClr val="1F2933"/>
                </a:solidFill>
              </a:rPr>
              <a:t>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550" dirty="0">
                <a:solidFill>
                  <a:srgbClr val="1F2933"/>
                </a:solidFill>
              </a:rPr>
              <a:t> means "this object".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Instance methods work on one object's fields.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540764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540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ENCAPSULATION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Objects that protect themselves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BankAccount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getBalance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1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read-only access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withdraw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IllegalArgumentException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"Insufficient funds."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650" dirty="0">
                <a:solidFill>
                  <a:srgbClr val="1F2933"/>
                </a:solidFill>
              </a:rPr>
              <a:t>: only this class can touch it.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650" dirty="0">
                <a:solidFill>
                  <a:srgbClr val="1F2933"/>
                </a:solidFill>
              </a:rPr>
              <a:t>: set once, never changed.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Methods check every change.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r>
              <a:rPr lang="en-US" sz="1650" dirty="0">
                <a:solidFill>
                  <a:srgbClr val="1F2933"/>
                </a:solidFill>
              </a:rPr>
              <a:t> stops nonsense early.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ALSO TODAY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toString, static, and references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Idea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In short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toString()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What </a:t>
                      </a: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println(obj)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 shows. Give every class one (with </a:t>
                      </a: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@Override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static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Belongs to the CLASS, shared by all objects: counters, constants, </a:t>
                      </a: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Math.sqrt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References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 = a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 gives two names for ONE object; </a:t>
                      </a: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==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 asks "same object?"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No object. Using it: </a:t>
                      </a: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NullPointerException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367028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3670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COMPOSITION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Objects that hold objects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2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null if not found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"S01"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"Akua"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A Course HAS students.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Each class has one job.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No more parallel arrays.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540764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540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REAL PROJECTS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class per file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examples/multi-file/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BankAccount.java     public class BankAccount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Bank.java            public class Bank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BankApp.java         public class BankApp (has main)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javac -d out *.java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java -cp out BankApp</a:t>
            </a:r>
            <a:endParaRPr lang="en-US" sz="1800" dirty="0"/>
          </a:p>
        </p:txBody>
      </p:sp>
      <p:sp>
        <p:nvSpPr>
          <p:cNvPr id="11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The examples nest classes for convenience.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Your projects: one public class per file.</a:t>
            </a:r>
            <a:endParaRPr lang="en-US" sz="1550" dirty="0"/>
          </a:p>
        </p:txBody>
      </p:sp>
      <p:sp>
        <p:nvSpPr>
          <p:cNvPr id="12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 out</a:t>
            </a:r>
            <a:r>
              <a:rPr lang="en-US" sz="1550" dirty="0">
                <a:solidFill>
                  <a:srgbClr val="1F2933"/>
                </a:solidFill>
              </a:rPr>
              <a:t> keeps .class files tidy.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WATCH OUT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Forgetting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 constructor with a return type (it becomes a method).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name;</a:t>
            </a:r>
            <a:r>
              <a:rPr lang="en-US" sz="1450" dirty="0">
                <a:solidFill>
                  <a:srgbClr val="FFFFFF"/>
                </a:solidFill>
              </a:rPr>
              <a:t> instead of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this.name = name;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"non-static method cannot be referenced from a static context": you need an object.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Public fields. Make them private.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Using a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50" dirty="0">
                <a:solidFill>
                  <a:srgbClr val="FFFFFF"/>
                </a:solidFill>
              </a:rPr>
              <a:t> result without checking.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Run every example, and the multi-file one with javac.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1: an exact Fraction class.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2: Songs and a Playlist.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Build the project in your track.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Your World with Classes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4EE"/>
                </a:solidFill>
              </a:rPr>
              <a:t>Track A: a library. Track B: a series circuit analyser. Track C: a ward monitor. Three classes in three files, private fields, validation, and a menu.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9820"/>
                </a:solidFill>
              </a:rPr>
              <a:t>Next: Module 11, Inheritance &amp; Polymorphism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10: Classes &amp; Objects</dc:title>
  <dc:subject>Lecture slides</dc:subject>
  <dc:creator>Introduction to Java Programming</dc:creator>
  <cp:lastModifiedBy>Introduction to Java Programming</cp:lastModifiedBy>
  <cp:revision>1</cp:revision>
  <dcterms:created xsi:type="dcterms:W3CDTF">2026-10-05T04:05:19Z</dcterms:created>
  <dcterms:modified xsi:type="dcterms:W3CDTF">2026-10-05T04:05:19Z</dcterms:modified>
</cp:coreProperties>
</file>