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0" id="{65596f2b-80f0-754d-5fae-84d056affcf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as soon as the JDK is installed. The dialog may open behind the terminal: point that out before it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 students must tick Set JAVA_HOME in the Temurin installer. Check java -version and javac -version show the same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round the room. Mismatched java/javac versions mean an old Java is earlier on the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first-run problems: no folder open, or the extension still loading. Configure Java Runtime fixes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GitHub usernames now. Students add the instructor as a collaborator on java-coursework.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rejects account passwords from the terminal: use a personal access token or gh auth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move on until every student's commit is visible on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0  ·  SETUP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0  ·  SETUP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MODULE 0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46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The JDK, VS Code, Git and GitHub: everything you need before your first program.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HOOK: RUN THIS FIRST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line, one window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jshell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jshell&gt; "Java! ".repeat(5)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 ==&gt; "Java! Java! Java! Java! Java! 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jshell&gt; 365 * 24 * 60 * 60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 ==&gt; 31536000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jshell&gt; javax.swing.JOptionPane.showMessageDialog(null, "Hello from Java!")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jshell&gt; /exit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jshell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Type </a:t>
            </a:r>
            <a:r>
              <a:rPr lang="en-US" sz="17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jshell</a:t>
            </a:r>
            <a:r>
              <a:rPr lang="en-US" sz="1700" dirty="0">
                <a:solidFill>
                  <a:srgbClr val="1F2933"/>
                </a:solidFill>
              </a:rPr>
              <a:t> in a terminal: Java is waiting.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Repeat text, count the seconds in a year...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...and open a </a:t>
            </a:r>
            <a:r>
              <a:rPr lang="en-US" sz="1700" b="1" dirty="0">
                <a:solidFill>
                  <a:srgbClr val="1F2933"/>
                </a:solidFill>
              </a:rPr>
              <a:t>real window</a:t>
            </a:r>
            <a:r>
              <a:rPr lang="en-US" sz="1700" dirty="0">
                <a:solidFill>
                  <a:srgbClr val="1F2933"/>
                </a:solidFill>
              </a:rPr>
              <a:t> with one line.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Every module from here replaces one piece of "why did that work?" with "I know exactly why."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CONCEPT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 you're installing</a:t>
            </a:r>
            <a:endParaRPr lang="en-US" sz="3200" dirty="0"/>
          </a:p>
        </p:txBody>
      </p:sp>
      <p:sp>
        <p:nvSpPr>
          <p:cNvPr id="5" name="Point 1"/>
          <p:cNvSpPr/>
          <p:nvPr/>
        </p:nvSpPr>
        <p:spPr>
          <a:xfrm>
            <a:off x="548640" y="18745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3454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874520"/>
            <a:ext cx="9951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The JDK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the Java Development Kit: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javac</a:t>
            </a:r>
            <a:r>
              <a:rPr lang="en-US" sz="1600" dirty="0">
                <a:solidFill>
                  <a:srgbClr val="1F2933"/>
                </a:solidFill>
              </a:rPr>
              <a:t> (the compiler) and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r>
              <a:rPr lang="en-US" sz="1600" dirty="0">
                <a:solidFill>
                  <a:srgbClr val="1F2933"/>
                </a:solidFill>
              </a:rPr>
              <a:t> (the JVM that runs programs). Install version 21 or newer from adoptium.net.</a:t>
            </a:r>
            <a:endParaRPr lang="en-US" sz="1800" dirty="0"/>
          </a:p>
        </p:txBody>
      </p:sp>
      <p:sp>
        <p:nvSpPr>
          <p:cNvPr id="9" name="Point 2"/>
          <p:cNvSpPr/>
          <p:nvPr/>
        </p:nvSpPr>
        <p:spPr>
          <a:xfrm>
            <a:off x="548640" y="27889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94894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788920"/>
            <a:ext cx="9951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VS Code + Extension Pack for Java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your editor: colours, red squiggles as you type, a Run button, a debugger.</a:t>
            </a:r>
            <a:endParaRPr lang="en-US" sz="1800" dirty="0"/>
          </a:p>
        </p:txBody>
      </p:sp>
      <p:sp>
        <p:nvSpPr>
          <p:cNvPr id="13" name="Point 3"/>
          <p:cNvSpPr/>
          <p:nvPr/>
        </p:nvSpPr>
        <p:spPr>
          <a:xfrm>
            <a:off x="548640" y="37033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86334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63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703320"/>
            <a:ext cx="9951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Git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keeps the full history of your code, and is how you hand work in.</a:t>
            </a:r>
            <a:endParaRPr lang="en-US" sz="1800" dirty="0"/>
          </a:p>
        </p:txBody>
      </p:sp>
      <p:sp>
        <p:nvSpPr>
          <p:cNvPr id="17" name="Point 4"/>
          <p:cNvSpPr/>
          <p:nvPr/>
        </p:nvSpPr>
        <p:spPr>
          <a:xfrm>
            <a:off x="548640" y="46177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77774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7777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617720"/>
            <a:ext cx="9951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GitHub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where your repositories live online, and where your instructor sees your work.</a:t>
            </a:r>
            <a:endParaRPr lang="en-US" sz="1800" dirty="0"/>
          </a:p>
        </p:txBody>
      </p:sp>
      <p:sp>
        <p:nvSpPr>
          <p:cNvPr id="21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JDK, not JRE: a JRE can run Java but has no javac, so it can't compile.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CHECK IT WORKS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commands that must work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5196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Command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You should see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java -version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openjdk version "21.0.x" (or newer)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javac -version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javac 21.0.x: the same number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--version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git version 2.x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"not recognized" or "command not found": close and reopen the terminal; on Windows, check Add to PATH.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VS CODE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 program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Test.java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7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"VS Code works!"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11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Open a </a:t>
            </a:r>
            <a:r>
              <a:rPr lang="en-US" sz="1650" b="1" dirty="0">
                <a:solidFill>
                  <a:srgbClr val="1F2933"/>
                </a:solidFill>
              </a:rPr>
              <a:t>folder</a:t>
            </a:r>
            <a:r>
              <a:rPr lang="en-US" sz="1650" dirty="0">
                <a:solidFill>
                  <a:srgbClr val="1F2933"/>
                </a:solidFill>
              </a:rPr>
              <a:t>, not just a file.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The file name must match the class name: </a:t>
            </a: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Test.java</a:t>
            </a:r>
            <a:r>
              <a:rPr lang="en-US" sz="1650" dirty="0">
                <a:solidFill>
                  <a:srgbClr val="1F2933"/>
                </a:solidFill>
              </a:rPr>
              <a:t> holds </a:t>
            </a: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Test</a:t>
            </a:r>
            <a:r>
              <a:rPr lang="en-US" sz="1650" dirty="0">
                <a:solidFill>
                  <a:srgbClr val="1F2933"/>
                </a:solidFill>
              </a:rPr>
              <a:t>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Click ▶ Run. "Java: Ready" appears in the status bar first.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801368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TWO REPOSITORIES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course, and your work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1783080"/>
            <a:ext cx="5364328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C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Java4Beginners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4815688" cy="10149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4632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datlogix/Java4Beginners.git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500" dirty="0"/>
          </a:p>
        </p:txBody>
      </p:sp>
      <p:sp>
        <p:nvSpPr>
          <p:cNvPr id="11" name="Bullets"/>
          <p:cNvSpPr txBox="1"/>
          <p:nvPr/>
        </p:nvSpPr>
        <p:spPr>
          <a:xfrm>
            <a:off x="868680" y="3986784"/>
            <a:ext cx="472424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The textbook: read it and run it.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Don't edit it.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r>
              <a:rPr lang="en-US" sz="1550" dirty="0">
                <a:solidFill>
                  <a:srgbClr val="1F2933"/>
                </a:solidFill>
              </a:rPr>
              <a:t> gets updates.</a:t>
            </a:r>
            <a:endParaRPr lang="en-US" sz="1550" dirty="0"/>
          </a:p>
        </p:txBody>
      </p:sp>
      <p:sp>
        <p:nvSpPr>
          <p:cNvPr id="12" name="Card 2"/>
          <p:cNvSpPr/>
          <p:nvPr/>
        </p:nvSpPr>
        <p:spPr>
          <a:xfrm>
            <a:off x="6278728" y="1783080"/>
            <a:ext cx="5364328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3048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5304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java-coursework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53048" y="2743200"/>
            <a:ext cx="4815688" cy="76809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0208" y="2743200"/>
            <a:ext cx="4632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Private, with the Java .gitignore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with your instructor</a:t>
            </a:r>
            <a:endParaRPr lang="en-US" sz="1500" dirty="0"/>
          </a:p>
        </p:txBody>
      </p:sp>
      <p:sp>
        <p:nvSpPr>
          <p:cNvPr id="18" name="Bullets"/>
          <p:cNvSpPr txBox="1"/>
          <p:nvPr/>
        </p:nvSpPr>
        <p:spPr>
          <a:xfrm>
            <a:off x="6598768" y="3739896"/>
            <a:ext cx="472424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Your work: edit, commit, push.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One folder per module: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01-first-steps/</a:t>
            </a:r>
            <a:r>
              <a:rPr lang="en-US" sz="1550" dirty="0">
                <a:solidFill>
                  <a:srgbClr val="1F2933"/>
                </a:solidFill>
              </a:rPr>
              <a:t>...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23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3"/>
                </a:solidFill>
              </a:rPr>
              <a:t>Clone them side by side in the same folder.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THE WORKFLOW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commit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java 00-setup/Hook.java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from Ama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just ran my first Java file.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00-setup/Hook.java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"Complete Module 0 setup"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</a:t>
            </a:r>
            <a:endParaRPr lang="en-US" sz="1800" dirty="0"/>
          </a:p>
        </p:txBody>
      </p:sp>
      <p:sp>
        <p:nvSpPr>
          <p:cNvPr id="11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b="1" dirty="0">
                <a:solidFill>
                  <a:srgbClr val="1F2933"/>
                </a:solidFill>
              </a:rPr>
              <a:t>Edit</a:t>
            </a:r>
            <a:r>
              <a:rPr lang="en-US" sz="1650" dirty="0">
                <a:solidFill>
                  <a:srgbClr val="1F2933"/>
                </a:solidFill>
              </a:rPr>
              <a:t> locally, then </a:t>
            </a: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r>
              <a:rPr lang="en-US" sz="1650" dirty="0">
                <a:solidFill>
                  <a:srgbClr val="1F2933"/>
                </a:solidFill>
              </a:rPr>
              <a:t> the files you changed.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</a:t>
            </a:r>
            <a:r>
              <a:rPr lang="en-US" sz="1650" dirty="0">
                <a:solidFill>
                  <a:srgbClr val="1F2933"/>
                </a:solidFill>
              </a:rPr>
              <a:t> with a short description.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r>
              <a:rPr lang="en-US" sz="1650" dirty="0">
                <a:solidFill>
                  <a:srgbClr val="1F2933"/>
                </a:solidFill>
              </a:rPr>
              <a:t>: your instructor only sees what you've pushed.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WATCH OUT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Installing a </a:t>
            </a:r>
            <a:r>
              <a:rPr lang="en-US" sz="1450" b="1" dirty="0">
                <a:solidFill>
                  <a:srgbClr val="FFFFFF"/>
                </a:solidFill>
              </a:rPr>
              <a:t>JRE</a:t>
            </a:r>
            <a:r>
              <a:rPr lang="en-US" sz="1450" dirty="0">
                <a:solidFill>
                  <a:srgbClr val="FFFFFF"/>
                </a:solidFill>
              </a:rPr>
              <a:t> instead of the JDK: no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javac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Windows: forgetting </a:t>
            </a:r>
            <a:r>
              <a:rPr lang="en-US" sz="1450" b="1" dirty="0">
                <a:solidFill>
                  <a:srgbClr val="FFFFFF"/>
                </a:solidFill>
              </a:rPr>
              <a:t>Add to PATH</a:t>
            </a:r>
            <a:r>
              <a:rPr lang="en-US" sz="1450" dirty="0">
                <a:solidFill>
                  <a:srgbClr val="FFFFFF"/>
                </a:solidFill>
              </a:rPr>
              <a:t> / </a:t>
            </a:r>
            <a:r>
              <a:rPr lang="en-US" sz="1450" b="1" dirty="0">
                <a:solidFill>
                  <a:srgbClr val="FFFFFF"/>
                </a:solidFill>
              </a:rPr>
              <a:t>Set JAVA_HOME</a:t>
            </a:r>
            <a:r>
              <a:rPr lang="en-US" sz="1450" dirty="0">
                <a:solidFill>
                  <a:srgbClr val="FFFFFF"/>
                </a:solidFill>
              </a:rPr>
              <a:t> in the installer.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Not reopening the terminal after installing.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Opening a single file in VS Code instead of a </a:t>
            </a:r>
            <a:r>
              <a:rPr lang="en-US" sz="1450" b="1" dirty="0">
                <a:solidFill>
                  <a:srgbClr val="FFFFFF"/>
                </a:solidFill>
              </a:rPr>
              <a:t>folder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 file name that doesn't match its class: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Test.java</a:t>
            </a:r>
            <a:r>
              <a:rPr lang="en-US" sz="1450" dirty="0">
                <a:solidFill>
                  <a:srgbClr val="FFFFFF"/>
                </a:solidFill>
              </a:rPr>
              <a:t> must contain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Test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Typing terminal commands at the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jshell&gt;</a:t>
            </a:r>
            <a:r>
              <a:rPr lang="en-US" sz="1450" dirty="0">
                <a:solidFill>
                  <a:srgbClr val="FFFFFF"/>
                </a:solidFill>
              </a:rPr>
              <a:t> prompt. Type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/exit</a:t>
            </a:r>
            <a:r>
              <a:rPr lang="en-US" sz="1450" dirty="0">
                <a:solidFill>
                  <a:srgbClr val="FFFFFF"/>
                </a:solidFill>
              </a:rPr>
              <a:t> first.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-version</a:t>
            </a:r>
            <a:r>
              <a:rPr lang="en-US" sz="1600" dirty="0">
                <a:solidFill>
                  <a:srgbClr val="1F2933"/>
                </a:solidFill>
              </a:rPr>
              <a:t>,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javac -version</a:t>
            </a:r>
            <a:r>
              <a:rPr lang="en-US" sz="1600" dirty="0">
                <a:solidFill>
                  <a:srgbClr val="1F2933"/>
                </a:solidFill>
              </a:rPr>
              <a:t> and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</a:t>
            </a:r>
            <a:r>
              <a:rPr lang="en-US" sz="1600" dirty="0">
                <a:solidFill>
                  <a:srgbClr val="1F2933"/>
                </a:solidFill>
              </a:rPr>
              <a:t> all work.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Run the three hook lines in jshell.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Clone the course; create and share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java-coursework</a:t>
            </a:r>
            <a:r>
              <a:rPr lang="en-US" sz="1600" dirty="0">
                <a:solidFill>
                  <a:srgbClr val="1F2933"/>
                </a:solidFill>
              </a:rPr>
              <a:t>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Push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00-setup/Hook.java</a:t>
            </a:r>
            <a:r>
              <a:rPr lang="en-US" sz="1600" dirty="0">
                <a:solidFill>
                  <a:srgbClr val="1F2933"/>
                </a:solidFill>
              </a:rPr>
              <a:t> and see it on GitHub.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push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Hook.java</a:t>
            </a:r>
            <a:r>
              <a:rPr lang="en-US" sz="1450" dirty="0">
                <a:solidFill>
                  <a:srgbClr val="DCE4EE"/>
                </a:solidFill>
              </a:rPr>
              <a:t> prints your name and pops up a window that says hello. When your commit appears on GitHub, you're ready.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Module 1, First Steps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0: Setup</dc:title>
  <dc:subject>Lecture slides</dc:subject>
  <dc:creator>Introduction to Java Programming</dc:creator>
  <cp:lastModifiedBy>Introduction to Java Programming</cp:lastModifiedBy>
  <cp:revision>1</cp:revision>
  <dcterms:created xsi:type="dcterms:W3CDTF">2026-10-05T04:01:21Z</dcterms:created>
  <dcterms:modified xsi:type="dcterms:W3CDTF">2026-10-05T04:01:21Z</dcterms:modified>
</cp:coreProperties>
</file>