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ule 17" id="{ca2205e7-9f31-f8b9-f16e-d8c89dce7ca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run downloads Maven and JUnit: allow a minute and make sure there's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examples/01-packages. Then show why typing every file by hand doesn't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examples/02-maven-json saves records as JSON with Gson.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Maven panel and the Testing panel in VS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examples/03-junit-basics: break ShoppingCart on purpose and watch.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Exercise 1: tests that catch four hidden bugs. Exercise 2: TDD.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2 can depend on this toolkit.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525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97A8"/>
                </a:solidFill>
              </a:rPr>
              <a:t>MODULE 17  ·  PACKAGES, MAVEN &amp; JUNIT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Content">
    <p:bg>
      <p:bgPr>
        <a:solidFill>
          <a:srgbClr val="1525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F93AD"/>
                </a:solidFill>
              </a:rPr>
              <a:t>MODULE 17  ·  PACKAGES, MAVEN &amp; JUNIT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93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g number"/>
          <p:cNvSpPr txBox="1"/>
          <p:nvPr/>
        </p:nvSpPr>
        <p:spPr>
          <a:xfrm>
            <a:off x="6583680" y="822960"/>
            <a:ext cx="530352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300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566928" cy="566928"/>
          </a:xfrm>
          <a:prstGeom prst="ellipse">
            <a:avLst/>
          </a:prstGeom>
          <a:solidFill>
            <a:srgbClr val="22384F"/>
          </a:solidFill>
          <a:ln w="19050">
            <a:solidFill>
              <a:srgbClr val="F898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51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98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}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515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C7D9"/>
                </a:solidFill>
              </a:rPr>
              <a:t>INTRODUCTION TO JAVA PROGRAMMING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898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1488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152536"/>
                </a:solidFill>
              </a:rPr>
              <a:t>MODULE 17</a:t>
            </a:r>
            <a:endParaRPr lang="en-US" sz="1100" dirty="0"/>
          </a:p>
        </p:txBody>
      </p:sp>
      <p:sp>
        <p:nvSpPr>
          <p:cNvPr id="8" name="Title"/>
          <p:cNvSpPr txBox="1"/>
          <p:nvPr/>
        </p:nvSpPr>
        <p:spPr>
          <a:xfrm>
            <a:off x="548640" y="260604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Packages, Maven &amp; JUnit</a:t>
            </a:r>
            <a:endParaRPr lang="en-US" sz="4000" dirty="0"/>
          </a:p>
        </p:txBody>
      </p:sp>
      <p:sp>
        <p:nvSpPr>
          <p:cNvPr id="9" name="Subtitle"/>
          <p:cNvSpPr txBox="1"/>
          <p:nvPr/>
        </p:nvSpPr>
        <p:spPr>
          <a:xfrm>
            <a:off x="548640" y="425196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8C7D9"/>
                </a:solidFill>
              </a:rPr>
              <a:t>Organising code into packages, building with Maven, adding libraries, and proving code works with automated tests.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HOOK: RUN THIS FIRST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program that checks itself</a:t>
            </a:r>
            <a:endParaRPr lang="en-US" sz="3200" dirty="0"/>
          </a:p>
        </p:txBody>
      </p:sp>
      <p:sp>
        <p:nvSpPr>
          <p:cNvPr id="5" name="Code window"/>
          <p:cNvSpPr/>
          <p:nvPr/>
        </p:nvSpPr>
        <p:spPr>
          <a:xfrm>
            <a:off x="548640" y="1783080"/>
            <a:ext cx="6858000" cy="3886200"/>
          </a:xfrm>
          <a:prstGeom prst="roundRect">
            <a:avLst>
              <a:gd name="adj" fmla="val 2824"/>
            </a:avLst>
          </a:prstGeom>
          <a:solidFill>
            <a:srgbClr val="17263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938528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" y="1938528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938528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63040" y="185623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./mvnw test</a:t>
            </a:r>
            <a:endParaRPr lang="en-US" sz="1000" dirty="0"/>
          </a:p>
        </p:txBody>
      </p:sp>
      <p:sp>
        <p:nvSpPr>
          <p:cNvPr id="10" name="Code"/>
          <p:cNvSpPr txBox="1"/>
          <p:nvPr/>
        </p:nvSpPr>
        <p:spPr>
          <a:xfrm>
            <a:off x="777240" y="2194560"/>
            <a:ext cx="64922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[ERROR] Failures: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[ERROR]   DateToolsTest.lastDayOfALeapYear:40 expected: &lt;366&gt; but was: &lt;365&gt;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[ERROR]   DateToolsTest.yearDivisibleBy400IsLeap:30 2000 divides by 400,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so it IS a leap year ==&gt; expected: &lt;true&gt; but was: &lt;false&gt;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[ERROR] Tests run: 7, Failures: 2, Errors: 0, Skipped: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[ERROR] BUILD FAILURE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 fix isLeapYear, then: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Tests run: 7, Failures: 0, Errors: 0, Skipped: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BUILD SUCCESS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5806440"/>
            <a:ext cx="6858000" cy="457200"/>
          </a:xfrm>
          <a:prstGeom prst="roundRect">
            <a:avLst>
              <a:gd name="adj" fmla="val 16000"/>
            </a:avLst>
          </a:prstGeom>
          <a:solidFill>
            <a:srgbClr val="1726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580644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98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examples/00-leap-year-bug &amp;&amp; ./mvnw test</a:t>
            </a:r>
            <a:endParaRPr lang="en-US" sz="1300" dirty="0"/>
          </a:p>
        </p:txBody>
      </p:sp>
      <p:sp>
        <p:nvSpPr>
          <p:cNvPr id="13" name="Bullets"/>
          <p:cNvSpPr txBox="1"/>
          <p:nvPr/>
        </p:nvSpPr>
        <p:spPr>
          <a:xfrm>
            <a:off x="7818120" y="1828800"/>
            <a:ext cx="3840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700" dirty="0">
                <a:solidFill>
                  <a:srgbClr val="1F2933"/>
                </a:solidFill>
              </a:rPr>
              <a:t>Seven automated tests; two fail.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700" dirty="0">
                <a:solidFill>
                  <a:srgbClr val="1F2933"/>
                </a:solidFill>
              </a:rPr>
              <a:t>The forgotten 400 rule from Module 4.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700" dirty="0">
                <a:solidFill>
                  <a:srgbClr val="1F2933"/>
                </a:solidFill>
              </a:rPr>
              <a:t>Fix it, and they all pass.</a:t>
            </a:r>
            <a:endParaRPr lang="en-US" sz="1700" dirty="0"/>
          </a:p>
        </p:txBody>
      </p:sp>
      <p:sp>
        <p:nvSpPr>
          <p:cNvPr id="14" name="Callout"/>
          <p:cNvSpPr/>
          <p:nvPr/>
        </p:nvSpPr>
        <p:spPr>
          <a:xfrm>
            <a:off x="7818120" y="4709160"/>
            <a:ext cx="3840480" cy="1463040"/>
          </a:xfrm>
          <a:prstGeom prst="roundRect">
            <a:avLst>
              <a:gd name="adj" fmla="val 6250"/>
            </a:avLst>
          </a:prstGeom>
          <a:solidFill>
            <a:srgbClr val="FEEBD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46720" y="47091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52536"/>
                </a:solidFill>
              </a:rPr>
              <a:t>Nobody had to notice a wrong date. The tests caught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106424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106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PACKAGES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Organising classes</a:t>
            </a:r>
            <a:endParaRPr lang="en-US" sz="3200" dirty="0"/>
          </a:p>
        </p:txBody>
      </p:sp>
      <p:sp>
        <p:nvSpPr>
          <p:cNvPr id="5" name="Code window"/>
          <p:cNvSpPr/>
          <p:nvPr/>
        </p:nvSpPr>
        <p:spPr>
          <a:xfrm>
            <a:off x="548640" y="1783080"/>
            <a:ext cx="11094415" cy="3017520"/>
          </a:xfrm>
          <a:prstGeom prst="roundRect">
            <a:avLst>
              <a:gd name="adj" fmla="val 3636"/>
            </a:avLst>
          </a:prstGeom>
          <a:solidFill>
            <a:srgbClr val="17263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938528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" y="1938528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938528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Code"/>
          <p:cNvSpPr txBox="1"/>
          <p:nvPr/>
        </p:nvSpPr>
        <p:spPr>
          <a:xfrm>
            <a:off x="777240" y="2194560"/>
            <a:ext cx="1072865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makerspace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util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3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FIRST line; folder com/makerspace/util/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TextTools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makerspace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makerspace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util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TextTools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3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use a class from another package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javac -d out src/com/makerspace/util/TextTools.java src/com/makerspace/app/Main.java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java -cp out com.makerspace.app.Main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jar --create --file greeter.jar --main-class com.makerspace.app.Main -C out .</a:t>
            </a:r>
            <a:endParaRPr lang="en-US" sz="1300" dirty="0"/>
          </a:p>
        </p:txBody>
      </p:sp>
      <p:sp>
        <p:nvSpPr>
          <p:cNvPr id="10" name="Bullets"/>
          <p:cNvSpPr txBox="1"/>
          <p:nvPr/>
        </p:nvSpPr>
        <p:spPr>
          <a:xfrm>
            <a:off x="64008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Full names avoid clashes.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Folders must match.</a:t>
            </a:r>
            <a:endParaRPr lang="en-US" sz="1550" dirty="0"/>
          </a:p>
        </p:txBody>
      </p:sp>
      <p:sp>
        <p:nvSpPr>
          <p:cNvPr id="11" name="Bullets"/>
          <p:cNvSpPr txBox="1"/>
          <p:nvPr/>
        </p:nvSpPr>
        <p:spPr>
          <a:xfrm>
            <a:off x="621792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No modifier: package-private.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A JAR bundles a program.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MAVEN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standard layout and pom.xml</a:t>
            </a:r>
            <a:endParaRPr lang="en-US" sz="3200" dirty="0"/>
          </a:p>
        </p:txBody>
      </p:sp>
      <p:sp>
        <p:nvSpPr>
          <p:cNvPr id="5" name="Code window"/>
          <p:cNvSpPr/>
          <p:nvPr/>
        </p:nvSpPr>
        <p:spPr>
          <a:xfrm>
            <a:off x="548640" y="1783080"/>
            <a:ext cx="6675120" cy="4343400"/>
          </a:xfrm>
          <a:prstGeom prst="roundRect">
            <a:avLst>
              <a:gd name="adj" fmla="val 2526"/>
            </a:avLst>
          </a:prstGeom>
          <a:solidFill>
            <a:srgbClr val="17263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938528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" y="1938528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938528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63040" y="18562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Maven project</a:t>
            </a:r>
            <a:endParaRPr lang="en-US" sz="1000" dirty="0"/>
          </a:p>
        </p:txBody>
      </p:sp>
      <p:sp>
        <p:nvSpPr>
          <p:cNvPr id="10" name="Code"/>
          <p:cNvSpPr txBox="1"/>
          <p:nvPr/>
        </p:nvSpPr>
        <p:spPr>
          <a:xfrm>
            <a:off x="777240" y="2194560"/>
            <a:ext cx="63093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my-project/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pom.xml              &lt;groupId&gt;, &lt;artifactId&gt;, &lt;version&gt;, &lt;dependencies&gt;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mvnw, mvnw.cmd, .mvn/   the Maven Wrapper: downloads Maven for you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src/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main/java/       your code, in package folders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test/java/       your tests, in the SAME packages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&lt;dependency&gt;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&lt;groupId&gt;com.google.code.gson&lt;/groupId&gt;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&lt;artifactId&gt;gson&lt;/artifactId&gt;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&lt;version&gt;2.11.0&lt;/version&gt;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&lt;/dependency&gt;</a:t>
            </a:r>
            <a:endParaRPr lang="en-US" sz="1000" dirty="0"/>
          </a:p>
        </p:txBody>
      </p:sp>
      <p:sp>
        <p:nvSpPr>
          <p:cNvPr id="11" name="Bullets"/>
          <p:cNvSpPr txBox="1"/>
          <p:nvPr/>
        </p:nvSpPr>
        <p:spPr>
          <a:xfrm>
            <a:off x="7589520" y="1828800"/>
            <a:ext cx="406908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650" dirty="0">
                <a:solidFill>
                  <a:srgbClr val="1F2933"/>
                </a:solidFill>
              </a:rPr>
              <a:t>Dependencies come from Maven Central.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650" dirty="0">
                <a:solidFill>
                  <a:srgbClr val="1F2933"/>
                </a:solidFill>
              </a:rPr>
              <a:t>Five lines of XML: a JSON library.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650" dirty="0">
                <a:solidFill>
                  <a:srgbClr val="1F2933"/>
                </a:solidFill>
              </a:rPr>
              <a:t>Never commit </a:t>
            </a:r>
            <a:r>
              <a:rPr lang="en-US" sz="1650" dirty="0">
                <a:solidFill>
                  <a:srgbClr val="8A2B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target/</a:t>
            </a:r>
            <a:r>
              <a:rPr lang="en-US" sz="1650" dirty="0">
                <a:solidFill>
                  <a:srgbClr val="1F2933"/>
                </a:solidFill>
              </a:rPr>
              <a:t>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MAVEN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lifecycle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63367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Command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9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Does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9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./mvnw compile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Compiles src/main/java into target/classes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./mvnw test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Compiles, then runs every test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./mvnw package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Compiles, tests, builds a JAR (not if a test fails)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./mvnw clean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Deletes target/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./mvnw -q compile exec:java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Compiles and runs main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623560"/>
            <a:ext cx="11094415" cy="594360"/>
          </a:xfrm>
          <a:prstGeom prst="roundRect">
            <a:avLst>
              <a:gd name="adj" fmla="val 15385"/>
            </a:avLst>
          </a:prstGeom>
          <a:solidFill>
            <a:srgbClr val="FEEBD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2356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52536"/>
                </a:solidFill>
              </a:rPr>
              <a:t>Windows: mvnw, not ./mvnw. macOS/Linux "Permission denied": chmod +x mvnw.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JUNIT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test</a:t>
            </a:r>
            <a:endParaRPr lang="en-US" sz="3200" dirty="0"/>
          </a:p>
        </p:txBody>
      </p:sp>
      <p:sp>
        <p:nvSpPr>
          <p:cNvPr id="5" name="Code window"/>
          <p:cNvSpPr/>
          <p:nvPr/>
        </p:nvSpPr>
        <p:spPr>
          <a:xfrm>
            <a:off x="548640" y="1783080"/>
            <a:ext cx="11094415" cy="3657600"/>
          </a:xfrm>
          <a:prstGeom prst="roundRect">
            <a:avLst>
              <a:gd name="adj" fmla="val 3000"/>
            </a:avLst>
          </a:prstGeom>
          <a:solidFill>
            <a:srgbClr val="17263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938528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" y="1938528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938528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Code"/>
          <p:cNvSpPr txBox="1"/>
          <p:nvPr/>
        </p:nvSpPr>
        <p:spPr>
          <a:xfrm>
            <a:off x="777240" y="2194560"/>
            <a:ext cx="1072865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ShoppingCartTest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ShoppingCart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@BeforeEach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ShoppingCart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 fresh cart for EVERY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subtotalMultipliesPriceByQuantity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"Arduino"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180.0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assertEquals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360.0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subtotal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0.001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expected, actual,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zeroQuantityIsRefused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assertThrows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IllegalArgumentException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"LED"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1.5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0" name="Callout"/>
          <p:cNvSpPr/>
          <p:nvPr/>
        </p:nvSpPr>
        <p:spPr>
          <a:xfrm>
            <a:off x="548640" y="5623560"/>
            <a:ext cx="11094415" cy="594360"/>
          </a:xfrm>
          <a:prstGeom prst="roundRect">
            <a:avLst>
              <a:gd name="adj" fmla="val 15385"/>
            </a:avLst>
          </a:prstGeom>
          <a:solidFill>
            <a:srgbClr val="FEEBD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562356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52536"/>
                </a:solidFill>
              </a:rPr>
              <a:t>Name tests after what they check. Expected value first. Always a delta for doubles.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CONCEPT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test</a:t>
            </a:r>
            <a:endParaRPr lang="en-US" sz="3200" dirty="0"/>
          </a:p>
        </p:txBody>
      </p:sp>
      <p:sp>
        <p:nvSpPr>
          <p:cNvPr id="5" name="Point 1"/>
          <p:cNvSpPr/>
          <p:nvPr/>
        </p:nvSpPr>
        <p:spPr>
          <a:xfrm>
            <a:off x="548640" y="1874520"/>
            <a:ext cx="11094415" cy="948690"/>
          </a:xfrm>
          <a:prstGeom prst="roundRect">
            <a:avLst>
              <a:gd name="adj" fmla="val 7711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20265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12026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874520"/>
            <a:ext cx="9951415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73E"/>
                </a:solidFill>
              </a:rPr>
              <a:t>Ordinary cases</a:t>
            </a:r>
            <a:r>
              <a:rPr lang="en-US" sz="1800" dirty="0">
                <a:solidFill>
                  <a:srgbClr val="000000"/>
                </a:solidFill>
              </a:rPr>
              <a:t>  </a:t>
            </a:r>
            <a:r>
              <a:rPr lang="en-US" sz="1600" dirty="0">
                <a:solidFill>
                  <a:srgbClr val="1F2933"/>
                </a:solidFill>
              </a:rPr>
              <a:t>typical inputs, worked out by hand.</a:t>
            </a:r>
            <a:endParaRPr lang="en-US" sz="1800" dirty="0"/>
          </a:p>
        </p:txBody>
      </p:sp>
      <p:sp>
        <p:nvSpPr>
          <p:cNvPr id="9" name="Point 2"/>
          <p:cNvSpPr/>
          <p:nvPr/>
        </p:nvSpPr>
        <p:spPr>
          <a:xfrm>
            <a:off x="548640" y="2960370"/>
            <a:ext cx="11094415" cy="948690"/>
          </a:xfrm>
          <a:prstGeom prst="roundRect">
            <a:avLst>
              <a:gd name="adj" fmla="val 7711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206115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2061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960370"/>
            <a:ext cx="9951415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73E"/>
                </a:solidFill>
              </a:rPr>
              <a:t>Boundaries</a:t>
            </a:r>
            <a:r>
              <a:rPr lang="en-US" sz="1800" dirty="0">
                <a:solidFill>
                  <a:srgbClr val="000000"/>
                </a:solidFill>
              </a:rPr>
              <a:t>  </a:t>
            </a:r>
            <a:r>
              <a:rPr lang="en-US" sz="1600" dirty="0">
                <a:solidFill>
                  <a:srgbClr val="1F2933"/>
                </a:solidFill>
              </a:rPr>
              <a:t>exactly 500, an empty list, zero, the largest value: </a:t>
            </a:r>
            <a:r>
              <a:rPr lang="en-US" sz="1600" dirty="0">
                <a:solidFill>
                  <a:srgbClr val="8A2B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@ParameterizedTest</a:t>
            </a:r>
            <a:r>
              <a:rPr lang="en-US" sz="1600" dirty="0">
                <a:solidFill>
                  <a:srgbClr val="1F2933"/>
                </a:solidFill>
              </a:rPr>
              <a:t> + </a:t>
            </a:r>
            <a:r>
              <a:rPr lang="en-US" sz="1600" dirty="0">
                <a:solidFill>
                  <a:srgbClr val="8A2B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@CsvSource</a:t>
            </a:r>
            <a:r>
              <a:rPr lang="en-US" sz="1600" dirty="0">
                <a:solidFill>
                  <a:srgbClr val="1F2933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Point 3"/>
          <p:cNvSpPr/>
          <p:nvPr/>
        </p:nvSpPr>
        <p:spPr>
          <a:xfrm>
            <a:off x="548640" y="4046220"/>
            <a:ext cx="11094415" cy="948690"/>
          </a:xfrm>
          <a:prstGeom prst="roundRect">
            <a:avLst>
              <a:gd name="adj" fmla="val 7711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91965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29196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046220"/>
            <a:ext cx="9951415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73E"/>
                </a:solidFill>
              </a:rPr>
              <a:t>Errors</a:t>
            </a:r>
            <a:r>
              <a:rPr lang="en-US" sz="1800" dirty="0">
                <a:solidFill>
                  <a:srgbClr val="000000"/>
                </a:solidFill>
              </a:rPr>
              <a:t>  </a:t>
            </a:r>
            <a:r>
              <a:rPr lang="en-US" sz="1600" dirty="0">
                <a:solidFill>
                  <a:srgbClr val="1F2933"/>
                </a:solidFill>
              </a:rPr>
              <a:t>invalid input must be refused: </a:t>
            </a:r>
            <a:r>
              <a:rPr lang="en-US" sz="1600" dirty="0">
                <a:solidFill>
                  <a:srgbClr val="8A2B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assertThrows</a:t>
            </a:r>
            <a:r>
              <a:rPr lang="en-US" sz="1600" dirty="0">
                <a:solidFill>
                  <a:srgbClr val="1F2933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Point 4"/>
          <p:cNvSpPr/>
          <p:nvPr/>
        </p:nvSpPr>
        <p:spPr>
          <a:xfrm>
            <a:off x="548640" y="5132070"/>
            <a:ext cx="11094415" cy="948690"/>
          </a:xfrm>
          <a:prstGeom prst="roundRect">
            <a:avLst>
              <a:gd name="adj" fmla="val 7711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5377815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53778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5132070"/>
            <a:ext cx="9951415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73E"/>
                </a:solidFill>
              </a:rPr>
              <a:t>Test-driven development</a:t>
            </a:r>
            <a:r>
              <a:rPr lang="en-US" sz="1800" dirty="0">
                <a:solidFill>
                  <a:srgbClr val="000000"/>
                </a:solidFill>
              </a:rPr>
              <a:t>  </a:t>
            </a:r>
            <a:r>
              <a:rPr lang="en-US" sz="1600" dirty="0">
                <a:solidFill>
                  <a:srgbClr val="1F2933"/>
                </a:solidFill>
              </a:rPr>
              <a:t>red (a failing test), green (just enough code), refactor.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193292" cy="310896"/>
          </a:xfrm>
          <a:prstGeom prst="roundRect">
            <a:avLst>
              <a:gd name="adj" fmla="val 50000"/>
            </a:avLst>
          </a:prstGeom>
          <a:solidFill>
            <a:srgbClr val="F8982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1932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152536"/>
                </a:solidFill>
              </a:rPr>
              <a:t>WATCH OUT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beginner mistakes</a:t>
            </a:r>
            <a:endParaRPr lang="en-US" sz="3200" dirty="0"/>
          </a:p>
        </p:txBody>
      </p:sp>
      <p:sp>
        <p:nvSpPr>
          <p:cNvPr id="5" name="Mistake 1"/>
          <p:cNvSpPr/>
          <p:nvPr/>
        </p:nvSpPr>
        <p:spPr>
          <a:xfrm>
            <a:off x="548640" y="182880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27380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273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82880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A </a:t>
            </a:r>
            <a:r>
              <a:rPr lang="en-US" sz="1450" dirty="0">
                <a:solidFill>
                  <a:srgbClr val="F898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</a:t>
            </a:r>
            <a:r>
              <a:rPr lang="en-US" sz="1450" dirty="0">
                <a:solidFill>
                  <a:srgbClr val="FFFFFF"/>
                </a:solidFill>
              </a:rPr>
              <a:t> line that doesn't match the folder.</a:t>
            </a:r>
            <a:endParaRPr lang="en-US" sz="1450" dirty="0"/>
          </a:p>
        </p:txBody>
      </p:sp>
      <p:sp>
        <p:nvSpPr>
          <p:cNvPr id="9" name="Mistake 2"/>
          <p:cNvSpPr/>
          <p:nvPr/>
        </p:nvSpPr>
        <p:spPr>
          <a:xfrm>
            <a:off x="6255868" y="182880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10" name="Shape 8"/>
          <p:cNvSpPr/>
          <p:nvPr/>
        </p:nvSpPr>
        <p:spPr>
          <a:xfrm>
            <a:off x="6484468" y="227380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84468" y="2273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78828" y="182880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Running a class without its full name.</a:t>
            </a:r>
            <a:endParaRPr lang="en-US" sz="1450" dirty="0"/>
          </a:p>
        </p:txBody>
      </p:sp>
      <p:sp>
        <p:nvSpPr>
          <p:cNvPr id="13" name="Mistake 3"/>
          <p:cNvSpPr/>
          <p:nvPr/>
        </p:nvSpPr>
        <p:spPr>
          <a:xfrm>
            <a:off x="548640" y="336804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81304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3813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36804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Tests in src/main/java.</a:t>
            </a:r>
            <a:endParaRPr lang="en-US" sz="1450" dirty="0"/>
          </a:p>
        </p:txBody>
      </p:sp>
      <p:sp>
        <p:nvSpPr>
          <p:cNvPr id="17" name="Mistake 4"/>
          <p:cNvSpPr/>
          <p:nvPr/>
        </p:nvSpPr>
        <p:spPr>
          <a:xfrm>
            <a:off x="6255868" y="336804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18" name="Shape 16"/>
          <p:cNvSpPr/>
          <p:nvPr/>
        </p:nvSpPr>
        <p:spPr>
          <a:xfrm>
            <a:off x="6484468" y="381304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84468" y="3813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078828" y="336804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898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assertEquals(actual, expected)</a:t>
            </a:r>
            <a:r>
              <a:rPr lang="en-US" sz="1450" dirty="0">
                <a:solidFill>
                  <a:srgbClr val="FFFFFF"/>
                </a:solidFill>
              </a:rPr>
              <a:t>: backwards.</a:t>
            </a:r>
            <a:endParaRPr lang="en-US" sz="1450" dirty="0"/>
          </a:p>
        </p:txBody>
      </p:sp>
      <p:sp>
        <p:nvSpPr>
          <p:cNvPr id="21" name="Mistake 5"/>
          <p:cNvSpPr/>
          <p:nvPr/>
        </p:nvSpPr>
        <p:spPr>
          <a:xfrm>
            <a:off x="548640" y="490728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535228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352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90728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Doubles compared without a delta.</a:t>
            </a:r>
            <a:endParaRPr lang="en-US" sz="1450" dirty="0"/>
          </a:p>
        </p:txBody>
      </p:sp>
      <p:sp>
        <p:nvSpPr>
          <p:cNvPr id="25" name="Mistake 6"/>
          <p:cNvSpPr/>
          <p:nvPr/>
        </p:nvSpPr>
        <p:spPr>
          <a:xfrm>
            <a:off x="6255868" y="490728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26" name="Shape 24"/>
          <p:cNvSpPr/>
          <p:nvPr/>
        </p:nvSpPr>
        <p:spPr>
          <a:xfrm>
            <a:off x="6484468" y="535228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84468" y="5352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078828" y="490728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Committing </a:t>
            </a:r>
            <a:r>
              <a:rPr lang="en-US" sz="1450" dirty="0">
                <a:solidFill>
                  <a:srgbClr val="F898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target/</a:t>
            </a:r>
            <a:r>
              <a:rPr lang="en-US" sz="1450" dirty="0">
                <a:solidFill>
                  <a:srgbClr val="FFFFFF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93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714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TRY IT YOURSELF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move 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8288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Fix the hook, then </a:t>
            </a:r>
            <a:r>
              <a:rPr lang="en-US" sz="1600" dirty="0">
                <a:solidFill>
                  <a:srgbClr val="8A2B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./mvnw package</a:t>
            </a:r>
            <a:r>
              <a:rPr lang="en-US" sz="1600" dirty="0">
                <a:solidFill>
                  <a:srgbClr val="1F2933"/>
                </a:solidFill>
              </a:rPr>
              <a:t> and run the JAR.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7432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Build 01-packages by hand; run 02 and 03.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6576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Exercise 1: find four bugs with tests.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5720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Exercise 2: make the given tests pass.</a:t>
            </a:r>
            <a:endParaRPr lang="en-US" sz="1600" dirty="0"/>
          </a:p>
        </p:txBody>
      </p:sp>
      <p:sp>
        <p:nvSpPr>
          <p:cNvPr id="17" name="Project card"/>
          <p:cNvSpPr/>
          <p:nvPr/>
        </p:nvSpPr>
        <p:spPr>
          <a:xfrm>
            <a:off x="7589520" y="1828800"/>
            <a:ext cx="4053535" cy="4297680"/>
          </a:xfrm>
          <a:prstGeom prst="roundRect">
            <a:avLst>
              <a:gd name="adj" fmla="val 2707"/>
            </a:avLst>
          </a:prstGeom>
          <a:solidFill>
            <a:srgbClr val="15253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909560" y="2103120"/>
            <a:ext cx="3413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89820"/>
                </a:solidFill>
              </a:rPr>
              <a:t>MODULE PROJECT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909560" y="2468880"/>
            <a:ext cx="3413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Tested Toolkit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7909560" y="3566160"/>
            <a:ext cx="341345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DCE4EE"/>
                </a:solidFill>
              </a:rPr>
              <a:t>Track A: texttools. Track B: eetools. Track C: biotools. Packages, 12+ methods, Javadoc, 20+ tests, a CLI with --json, and a runnable JAR.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557784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9820"/>
                </a:solidFill>
              </a:rPr>
              <a:t>Next: Module 18, GUIs with JavaFX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ava Course">
  <a:themeElements>
    <a:clrScheme name="Java Course">
      <a:dk1>
        <a:srgbClr val="1F2933"/>
      </a:dk1>
      <a:lt1>
        <a:srgbClr val="FFFFFF"/>
      </a:lt1>
      <a:dk2>
        <a:srgbClr val="152536"/>
      </a:dk2>
      <a:lt2>
        <a:srgbClr val="F4F7FB"/>
      </a:lt2>
      <a:accent1>
        <a:srgbClr val="2F6F9F"/>
      </a:accent1>
      <a:accent2>
        <a:srgbClr val="F89820"/>
      </a:accent2>
      <a:accent3>
        <a:srgbClr val="5382A1"/>
      </a:accent3>
      <a:accent4>
        <a:srgbClr val="E8833A"/>
      </a:accent4>
      <a:accent5>
        <a:srgbClr val="3FA34D"/>
      </a:accent5>
      <a:accent6>
        <a:srgbClr val="C0392B"/>
      </a:accent6>
      <a:hlink>
        <a:srgbClr val="2F6F9F"/>
      </a:hlink>
      <a:folHlink>
        <a:srgbClr val="22384F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Introduction to Java Programming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17: Packages, Maven &amp; JUnit</dc:title>
  <dc:subject>Lecture slides</dc:subject>
  <dc:creator>Introduction to Java Programming</dc:creator>
  <cp:lastModifiedBy>Introduction to Java Programming</cp:lastModifiedBy>
  <cp:revision>1</cp:revision>
  <dcterms:created xsi:type="dcterms:W3CDTF">2026-10-05T05:36:12Z</dcterms:created>
  <dcterms:modified xsi:type="dcterms:W3CDTF">2026-10-05T05:36:12Z</dcterms:modified>
</cp:coreProperties>
</file>