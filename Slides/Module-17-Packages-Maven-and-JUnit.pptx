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7" id="{aa21486a-f5d8-aeb5-5ffd-c846035475e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run downloads Maven and JUnit: allow a minute and make sure there's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examples/01-packages. Then show why typing every file by hand doesn't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examples/02-maven-json saves records as JSON with Gson.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Maven panel and the Testing panel in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examples/03-junit-basics: break ShoppingCart on purpose and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1: tests that catch four hidden bugs. Exercise 2: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2 can depend on this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17  ·  PACKAGES, MAVEN &amp; JUNIT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17  ·  PACKAGES, MAVEN &amp; JUNIT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17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Packages, Maven &amp; JUnit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Organising code into packages, building with Maven, adding libraries, and proving code works with automated tests.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that checks itself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test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Failures: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  DateToolsTest.lastDayOfALeapYear:40 expected: &lt;366&gt; but was: &lt;365&gt;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  DateToolsTest.yearDivisibleBy400IsLeap:30 2000 divides by 400,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so it IS a leap year ==&gt; expected: &lt;true&gt; but was: &lt;false&gt;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Tests run: 7, Failures: 2, Errors: 0, Skipped: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 BUILD FAILURE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fix isLeapYear, then: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Tests run: 7, Failures: 0, Errors: 0, Skipped: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BUILD SUCCESS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examples/00-leap-year-bug &amp;&amp; ./mvnw test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Seven automated tests; two fail.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The forgotten 400 rule from Module 4.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Fix it, and they all pass.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Nobody had to notice a wrong date. The tests caught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PACKAGES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Organising classes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makerspace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 line; folder com/makerspace/util/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TextTools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makerspace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makerspace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TextTools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a class from another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javac -d out src/com/makerspace/util/TextTools.java src/com/makerspace/app/Main.java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-cp out com.makerspace.app.Main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jar --create --file greeter.jar --main-class com.makerspace.app.Main -C out .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Full names avoid clashes.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Folders must match.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No modifier: package-private.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JAR bundles a program.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MAVEN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layout and pom.xml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Maven project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              &lt;groupId&gt;, &lt;artifactId&gt;, &lt;version&gt;, &lt;dependencies&gt;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mvnw, mvnw.cmd, .mvn/   the Maven Wrapper: downloads Maven for you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main/java/       your code, in package folders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test/java/       your tests, in the SAME packages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&lt;groupId&gt;com.google.code.gson&lt;/groupId&gt;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&lt;artifactId&gt;gson&lt;/artifactId&gt;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&lt;version&gt;2.11.0&lt;/version&gt;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000" dirty="0"/>
          </a:p>
        </p:txBody>
      </p:sp>
      <p:sp>
        <p:nvSpPr>
          <p:cNvPr id="11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Dependencies come from Maven Central.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Five lines of XML: a JSON library.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Never commit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MAVEN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36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Does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./mvnw compile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Compiles src/main/java into target/classes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./mvnw test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Compiles, then runs every test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./mvnw package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Compiles, tests, builds a JAR (not if a test fails)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./mvnw clean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Deletes target/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./mvnw -q compile exec:java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Compiles and runs main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Windows: mvnw, not ./mvnw. macOS/Linux "Permission denied": chmod +x mvnw.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JUNIT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test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657600"/>
          </a:xfrm>
          <a:prstGeom prst="roundRect">
            <a:avLst>
              <a:gd name="adj" fmla="val 3000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ShoppingCartTest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@BeforeEach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fresh cart for EVERY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subtotalMultipliesPriceByQuantity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"Arduino"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180.0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360.0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expected, actual, delta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zeroQuantityIsRefused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assertThrows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"LED"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Name tests after what they check. Expected value first. Always a delta for doubles.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test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02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02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Ordinary cases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typical inputs, worked out by hand.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9603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61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061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603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Boundaries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exactly 500, an empty list, zero, the largest value: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@ParameterizedTest</a:t>
            </a:r>
            <a:r>
              <a:rPr lang="en-US" sz="1600" dirty="0">
                <a:solidFill>
                  <a:srgbClr val="1F2933"/>
                </a:solidFill>
              </a:rPr>
              <a:t> +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@CsvSource</a:t>
            </a:r>
            <a:r>
              <a:rPr lang="en-US" sz="1600" dirty="0">
                <a:solidFill>
                  <a:srgbClr val="1F2933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0462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919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462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Errors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invalid input must be refused: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assertThrows</a:t>
            </a:r>
            <a:r>
              <a:rPr lang="en-US" sz="1600" dirty="0">
                <a:solidFill>
                  <a:srgbClr val="1F2933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51320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778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3778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320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Test-driven development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red (a failing test), green (just enough code), refactor.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r>
              <a:rPr lang="en-US" sz="1450" dirty="0">
                <a:solidFill>
                  <a:srgbClr val="FFFFFF"/>
                </a:solidFill>
              </a:rPr>
              <a:t> line that doesn't match the folder.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Running a class without its full name.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Tests in src/main/java.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assertEquals(actual, expected)</a:t>
            </a:r>
            <a:r>
              <a:rPr lang="en-US" sz="1450" dirty="0">
                <a:solidFill>
                  <a:srgbClr val="FFFFFF"/>
                </a:solidFill>
              </a:rPr>
              <a:t>: backwards.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Doubles compared without a delta.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Committing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target/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Fix the hook, then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package</a:t>
            </a:r>
            <a:r>
              <a:rPr lang="en-US" sz="1600" dirty="0">
                <a:solidFill>
                  <a:srgbClr val="1F2933"/>
                </a:solidFill>
              </a:rPr>
              <a:t> and run the JAR.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01-packages by hand; run 02 and 03.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find four bugs with tests.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make the given tests pass.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Tested Toolkit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texttools. Track B: eetools. Track C: biotools. Packages, 12+ methods, Javadoc, 20+ tests, a CLI with --json, and a runnable JAR.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18, GUIs with Swing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17: Packages, Maven &amp; JUnit</dc:title>
  <dc:subject>Lecture slides</dc:subject>
  <dc:creator>Introduction to Java Programming</dc:creator>
  <cp:lastModifiedBy>Introduction to Java Programming</cp:lastModifiedBy>
  <cp:revision>1</cp:revision>
  <dcterms:created xsi:type="dcterms:W3CDTF">2026-10-05T04:08:00Z</dcterms:created>
  <dcterms:modified xsi:type="dcterms:W3CDTF">2026-10-05T04:08:00Z</dcterms:modified>
</cp:coreProperties>
</file>